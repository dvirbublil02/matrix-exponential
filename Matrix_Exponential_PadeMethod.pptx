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9" r:id="rId4"/>
    <p:sldId id="265" r:id="rId5"/>
    <p:sldId id="262" r:id="rId6"/>
    <p:sldId id="267" r:id="rId7"/>
    <p:sldId id="260" r:id="rId8"/>
    <p:sldId id="290" r:id="rId9"/>
    <p:sldId id="270" r:id="rId10"/>
    <p:sldId id="291" r:id="rId11"/>
  </p:sldIdLst>
  <p:sldSz cx="18288000" cy="10287000"/>
  <p:notesSz cx="6858000" cy="9144000"/>
  <p:embeddedFontLst>
    <p:embeddedFont>
      <p:font typeface="Cambria Math" panose="02040503050406030204" pitchFamily="18" charset="0"/>
      <p:regular r:id="rId13"/>
    </p:embeddedFont>
    <p:embeddedFont>
      <p:font typeface="Playfair Display Black" panose="00000A00000000000000" pitchFamily="2" charset="0"/>
      <p:bold r:id="rId14"/>
      <p:boldItalic r:id="rId15"/>
    </p:embeddedFont>
    <p:embeddedFont>
      <p:font typeface="Roboto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98D140-4961-4532-BD58-4F3D4F08A97D}">
  <a:tblStyle styleId="{B098D140-4961-4532-BD58-4F3D4F08A9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21BDEAE8-20D8-6D17-02B7-B81EFFB40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:notes">
            <a:extLst>
              <a:ext uri="{FF2B5EF4-FFF2-40B4-BE49-F238E27FC236}">
                <a16:creationId xmlns:a16="http://schemas.microsoft.com/office/drawing/2014/main" id="{F8A9BAA4-31E6-6D77-B4FA-E8AA91814D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5:notes">
            <a:extLst>
              <a:ext uri="{FF2B5EF4-FFF2-40B4-BE49-F238E27FC236}">
                <a16:creationId xmlns:a16="http://schemas.microsoft.com/office/drawing/2014/main" id="{7D699DBE-08EF-9443-0405-0F3270FDCD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2471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>
          <a:extLst>
            <a:ext uri="{FF2B5EF4-FFF2-40B4-BE49-F238E27FC236}">
              <a16:creationId xmlns:a16="http://schemas.microsoft.com/office/drawing/2014/main" id="{E03998D8-07BA-8454-20CE-DE93AB570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5:notes">
            <a:extLst>
              <a:ext uri="{FF2B5EF4-FFF2-40B4-BE49-F238E27FC236}">
                <a16:creationId xmlns:a16="http://schemas.microsoft.com/office/drawing/2014/main" id="{379B49F8-BB9F-7250-A987-CA7E67492E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15:notes">
            <a:extLst>
              <a:ext uri="{FF2B5EF4-FFF2-40B4-BE49-F238E27FC236}">
                <a16:creationId xmlns:a16="http://schemas.microsoft.com/office/drawing/2014/main" id="{D749599E-3212-4EBC-00D7-212D892ECF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1956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Google Shape;84;p13">
            <a:extLst>
              <a:ext uri="{FF2B5EF4-FFF2-40B4-BE49-F238E27FC236}">
                <a16:creationId xmlns:a16="http://schemas.microsoft.com/office/drawing/2014/main" id="{801A2C44-237D-F256-4387-ACB07AD9178A}"/>
              </a:ext>
            </a:extLst>
          </p:cNvPr>
          <p:cNvCxnSpPr/>
          <p:nvPr/>
        </p:nvCxnSpPr>
        <p:spPr>
          <a:xfrm rot="16200000">
            <a:off x="-3754367" y="4632320"/>
            <a:ext cx="13354541" cy="0"/>
          </a:xfrm>
          <a:prstGeom prst="straightConnector1">
            <a:avLst/>
          </a:prstGeom>
          <a:noFill/>
          <a:ln w="38100" cap="flat" cmpd="sng">
            <a:solidFill>
              <a:srgbClr val="4DA1A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" name="Google Shape;84;p13">
            <a:extLst>
              <a:ext uri="{FF2B5EF4-FFF2-40B4-BE49-F238E27FC236}">
                <a16:creationId xmlns:a16="http://schemas.microsoft.com/office/drawing/2014/main" id="{7E0F2F9C-CBAE-7C0D-2CBE-0A863F6BACDE}"/>
              </a:ext>
            </a:extLst>
          </p:cNvPr>
          <p:cNvCxnSpPr/>
          <p:nvPr/>
        </p:nvCxnSpPr>
        <p:spPr>
          <a:xfrm rot="16200000">
            <a:off x="-3906767" y="4479920"/>
            <a:ext cx="13354541" cy="0"/>
          </a:xfrm>
          <a:prstGeom prst="straightConnector1">
            <a:avLst/>
          </a:prstGeom>
          <a:noFill/>
          <a:ln w="38100" cap="flat" cmpd="sng">
            <a:solidFill>
              <a:srgbClr val="4DA1A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4" name="Google Shape;84;p13"/>
          <p:cNvCxnSpPr/>
          <p:nvPr/>
        </p:nvCxnSpPr>
        <p:spPr>
          <a:xfrm rot="-5400000">
            <a:off x="-4059167" y="4327520"/>
            <a:ext cx="13354541" cy="0"/>
          </a:xfrm>
          <a:prstGeom prst="straightConnector1">
            <a:avLst/>
          </a:prstGeom>
          <a:noFill/>
          <a:ln w="38100" cap="flat" cmpd="sng">
            <a:solidFill>
              <a:srgbClr val="4DA1A9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7" name="Google Shape;87;p13"/>
          <p:cNvGrpSpPr/>
          <p:nvPr/>
        </p:nvGrpSpPr>
        <p:grpSpPr>
          <a:xfrm>
            <a:off x="1028700" y="884039"/>
            <a:ext cx="16230600" cy="8374261"/>
            <a:chOff x="0" y="-38100"/>
            <a:chExt cx="4274726" cy="2205567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F3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" name="Google Shape;89;p13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 txBox="1"/>
          <p:nvPr/>
        </p:nvSpPr>
        <p:spPr>
          <a:xfrm>
            <a:off x="2618103" y="2737945"/>
            <a:ext cx="13583366" cy="4075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36" b="0" i="0" u="none" strike="noStrike" cap="none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Matrix Exponential</a:t>
            </a:r>
          </a:p>
          <a:p>
            <a:pPr lvl="0" algn="ctr">
              <a:lnSpc>
                <a:spcPct val="119998"/>
              </a:lnSpc>
            </a:pPr>
            <a:r>
              <a:rPr lang="en-US" sz="11036" dirty="0" err="1">
                <a:solidFill>
                  <a:srgbClr val="0B1320"/>
                </a:solidFill>
                <a:latin typeface="Playfair Display Black"/>
                <a:sym typeface="Playfair Display Black"/>
              </a:rPr>
              <a:t>Pad</a:t>
            </a:r>
            <a:r>
              <a:rPr lang="en-US" sz="9600" dirty="0" err="1">
                <a:solidFill>
                  <a:srgbClr val="0B1320"/>
                </a:solidFill>
                <a:latin typeface="Playfair Display Black"/>
              </a:rPr>
              <a:t>é</a:t>
            </a:r>
            <a:r>
              <a:rPr lang="en-US" sz="11036" dirty="0">
                <a:solidFill>
                  <a:srgbClr val="0B1320"/>
                </a:solidFill>
                <a:latin typeface="Playfair Display Black"/>
                <a:sym typeface="Playfair Display Black"/>
              </a:rPr>
              <a:t> Method</a:t>
            </a:r>
            <a:endParaRPr dirty="0"/>
          </a:p>
        </p:txBody>
      </p:sp>
      <p:cxnSp>
        <p:nvCxnSpPr>
          <p:cNvPr id="101" name="Google Shape;101;p13"/>
          <p:cNvCxnSpPr/>
          <p:nvPr/>
        </p:nvCxnSpPr>
        <p:spPr>
          <a:xfrm>
            <a:off x="1592374" y="1883323"/>
            <a:ext cx="13354541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2" name="Google Shape;102;p13"/>
          <p:cNvGrpSpPr/>
          <p:nvPr/>
        </p:nvGrpSpPr>
        <p:grpSpPr>
          <a:xfrm>
            <a:off x="15328896" y="1678999"/>
            <a:ext cx="406823" cy="408647"/>
            <a:chOff x="1813" y="0"/>
            <a:chExt cx="809173" cy="812800"/>
          </a:xfrm>
        </p:grpSpPr>
        <p:sp>
          <p:nvSpPr>
            <p:cNvPr id="103" name="Google Shape;103;p1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" name="Google Shape;102;p13">
            <a:extLst>
              <a:ext uri="{FF2B5EF4-FFF2-40B4-BE49-F238E27FC236}">
                <a16:creationId xmlns:a16="http://schemas.microsoft.com/office/drawing/2014/main" id="{3236DFE6-DDFD-D6CC-DAF2-2B64D41D1EDA}"/>
              </a:ext>
            </a:extLst>
          </p:cNvPr>
          <p:cNvGrpSpPr/>
          <p:nvPr/>
        </p:nvGrpSpPr>
        <p:grpSpPr>
          <a:xfrm>
            <a:off x="15914288" y="1678999"/>
            <a:ext cx="406823" cy="408647"/>
            <a:chOff x="1813" y="0"/>
            <a:chExt cx="809173" cy="812800"/>
          </a:xfrm>
        </p:grpSpPr>
        <p:sp>
          <p:nvSpPr>
            <p:cNvPr id="19" name="Google Shape;103;p13">
              <a:extLst>
                <a:ext uri="{FF2B5EF4-FFF2-40B4-BE49-F238E27FC236}">
                  <a16:creationId xmlns:a16="http://schemas.microsoft.com/office/drawing/2014/main" id="{5A8CBDBA-3C61-DE31-1E44-B052344FD0D8}"/>
                </a:ext>
              </a:extLst>
            </p:cNvPr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4;p13">
              <a:extLst>
                <a:ext uri="{FF2B5EF4-FFF2-40B4-BE49-F238E27FC236}">
                  <a16:creationId xmlns:a16="http://schemas.microsoft.com/office/drawing/2014/main" id="{6610F03D-11A4-E8B9-72DA-FC1F66712126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" name="Google Shape;102;p13">
            <a:extLst>
              <a:ext uri="{FF2B5EF4-FFF2-40B4-BE49-F238E27FC236}">
                <a16:creationId xmlns:a16="http://schemas.microsoft.com/office/drawing/2014/main" id="{B44B24E6-61EA-422C-4CAC-4342B40C63DA}"/>
              </a:ext>
            </a:extLst>
          </p:cNvPr>
          <p:cNvGrpSpPr/>
          <p:nvPr/>
        </p:nvGrpSpPr>
        <p:grpSpPr>
          <a:xfrm>
            <a:off x="16492214" y="1682681"/>
            <a:ext cx="406823" cy="408647"/>
            <a:chOff x="1813" y="0"/>
            <a:chExt cx="809173" cy="812800"/>
          </a:xfrm>
        </p:grpSpPr>
        <p:sp>
          <p:nvSpPr>
            <p:cNvPr id="22" name="Google Shape;103;p13">
              <a:extLst>
                <a:ext uri="{FF2B5EF4-FFF2-40B4-BE49-F238E27FC236}">
                  <a16:creationId xmlns:a16="http://schemas.microsoft.com/office/drawing/2014/main" id="{CACD6507-0C93-3BCD-B409-FA66CFDDF935}"/>
                </a:ext>
              </a:extLst>
            </p:cNvPr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4;p13">
              <a:extLst>
                <a:ext uri="{FF2B5EF4-FFF2-40B4-BE49-F238E27FC236}">
                  <a16:creationId xmlns:a16="http://schemas.microsoft.com/office/drawing/2014/main" id="{693CC5A1-FA8B-BC4F-E228-9741589F320D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" name="Google Shape;126;p14">
            <a:extLst>
              <a:ext uri="{FF2B5EF4-FFF2-40B4-BE49-F238E27FC236}">
                <a16:creationId xmlns:a16="http://schemas.microsoft.com/office/drawing/2014/main" id="{B1460FDB-B1C3-5D69-F093-4EC5271BCD0A}"/>
              </a:ext>
            </a:extLst>
          </p:cNvPr>
          <p:cNvSpPr txBox="1"/>
          <p:nvPr/>
        </p:nvSpPr>
        <p:spPr>
          <a:xfrm>
            <a:off x="1592374" y="7233024"/>
            <a:ext cx="6910589" cy="754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Noah </a:t>
            </a:r>
            <a:r>
              <a:rPr lang="en-US" sz="3500" b="0" i="0" u="none" strike="noStrike" cap="none" dirty="0" err="1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Soskha</a:t>
            </a:r>
            <a:r>
              <a:rPr lang="en-US" sz="3500" b="0" i="0" u="none" strike="noStrike" cap="none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 - 315685990 </a:t>
            </a:r>
            <a:endParaRPr dirty="0"/>
          </a:p>
        </p:txBody>
      </p:sp>
      <p:sp>
        <p:nvSpPr>
          <p:cNvPr id="26" name="Google Shape;126;p14">
            <a:extLst>
              <a:ext uri="{FF2B5EF4-FFF2-40B4-BE49-F238E27FC236}">
                <a16:creationId xmlns:a16="http://schemas.microsoft.com/office/drawing/2014/main" id="{A1B8C983-7840-CBE8-6B4B-45441D019E02}"/>
              </a:ext>
            </a:extLst>
          </p:cNvPr>
          <p:cNvSpPr txBox="1"/>
          <p:nvPr/>
        </p:nvSpPr>
        <p:spPr>
          <a:xfrm>
            <a:off x="1592373" y="8010469"/>
            <a:ext cx="6910589" cy="754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Dvir Bublil - 315731570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14"/>
          <p:cNvGrpSpPr/>
          <p:nvPr/>
        </p:nvGrpSpPr>
        <p:grpSpPr>
          <a:xfrm>
            <a:off x="10063996" y="689547"/>
            <a:ext cx="7195304" cy="8930567"/>
            <a:chOff x="0" y="-38100"/>
            <a:chExt cx="2137363" cy="2352084"/>
          </a:xfrm>
        </p:grpSpPr>
        <p:sp>
          <p:nvSpPr>
            <p:cNvPr id="116" name="Google Shape;116;p14"/>
            <p:cNvSpPr/>
            <p:nvPr/>
          </p:nvSpPr>
          <p:spPr>
            <a:xfrm>
              <a:off x="0" y="0"/>
              <a:ext cx="2137363" cy="2313984"/>
            </a:xfrm>
            <a:custGeom>
              <a:avLst/>
              <a:gdLst/>
              <a:ahLst/>
              <a:cxnLst/>
              <a:rect l="l" t="t" r="r" b="b"/>
              <a:pathLst>
                <a:path w="2137363" h="2313984" extrusionOk="0">
                  <a:moveTo>
                    <a:pt x="45792" y="0"/>
                  </a:moveTo>
                  <a:lnTo>
                    <a:pt x="2091571" y="0"/>
                  </a:lnTo>
                  <a:cubicBezTo>
                    <a:pt x="2103716" y="0"/>
                    <a:pt x="2115363" y="4824"/>
                    <a:pt x="2123951" y="13412"/>
                  </a:cubicBezTo>
                  <a:cubicBezTo>
                    <a:pt x="2132538" y="22000"/>
                    <a:pt x="2137363" y="33647"/>
                    <a:pt x="2137363" y="45792"/>
                  </a:cubicBezTo>
                  <a:lnTo>
                    <a:pt x="2137363" y="2268192"/>
                  </a:lnTo>
                  <a:cubicBezTo>
                    <a:pt x="2137363" y="2280337"/>
                    <a:pt x="2132538" y="2291984"/>
                    <a:pt x="2123951" y="2300572"/>
                  </a:cubicBezTo>
                  <a:cubicBezTo>
                    <a:pt x="2115363" y="2309159"/>
                    <a:pt x="2103716" y="2313984"/>
                    <a:pt x="2091571" y="2313984"/>
                  </a:cubicBezTo>
                  <a:lnTo>
                    <a:pt x="45792" y="2313984"/>
                  </a:lnTo>
                  <a:cubicBezTo>
                    <a:pt x="33647" y="2313984"/>
                    <a:pt x="22000" y="2309159"/>
                    <a:pt x="13412" y="2300572"/>
                  </a:cubicBezTo>
                  <a:cubicBezTo>
                    <a:pt x="4824" y="2291984"/>
                    <a:pt x="0" y="2280337"/>
                    <a:pt x="0" y="2268192"/>
                  </a:cubicBezTo>
                  <a:lnTo>
                    <a:pt x="0" y="45792"/>
                  </a:lnTo>
                  <a:cubicBezTo>
                    <a:pt x="0" y="33647"/>
                    <a:pt x="4824" y="22000"/>
                    <a:pt x="13412" y="13412"/>
                  </a:cubicBezTo>
                  <a:cubicBezTo>
                    <a:pt x="22000" y="4824"/>
                    <a:pt x="33647" y="0"/>
                    <a:pt x="45792" y="0"/>
                  </a:cubicBezTo>
                  <a:close/>
                </a:path>
              </a:pathLst>
            </a:custGeom>
            <a:solidFill>
              <a:srgbClr val="0B13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14"/>
          <p:cNvGrpSpPr/>
          <p:nvPr/>
        </p:nvGrpSpPr>
        <p:grpSpPr>
          <a:xfrm>
            <a:off x="16493527" y="1280385"/>
            <a:ext cx="406823" cy="408647"/>
            <a:chOff x="1813" y="0"/>
            <a:chExt cx="809173" cy="812800"/>
          </a:xfrm>
        </p:grpSpPr>
        <p:sp>
          <p:nvSpPr>
            <p:cNvPr id="131" name="Google Shape;131;p1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p14"/>
          <p:cNvGrpSpPr/>
          <p:nvPr/>
        </p:nvGrpSpPr>
        <p:grpSpPr>
          <a:xfrm>
            <a:off x="17057202" y="1280385"/>
            <a:ext cx="406823" cy="408647"/>
            <a:chOff x="1813" y="0"/>
            <a:chExt cx="809173" cy="812800"/>
          </a:xfrm>
        </p:grpSpPr>
        <p:sp>
          <p:nvSpPr>
            <p:cNvPr id="134" name="Google Shape;134;p1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14"/>
          <p:cNvGrpSpPr/>
          <p:nvPr/>
        </p:nvGrpSpPr>
        <p:grpSpPr>
          <a:xfrm>
            <a:off x="17618249" y="1280385"/>
            <a:ext cx="406823" cy="408647"/>
            <a:chOff x="1813" y="0"/>
            <a:chExt cx="809173" cy="812800"/>
          </a:xfrm>
        </p:grpSpPr>
        <p:sp>
          <p:nvSpPr>
            <p:cNvPr id="137" name="Google Shape;137;p1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4"/>
          <p:cNvGrpSpPr/>
          <p:nvPr/>
        </p:nvGrpSpPr>
        <p:grpSpPr>
          <a:xfrm>
            <a:off x="9298224" y="8781545"/>
            <a:ext cx="406823" cy="408647"/>
            <a:chOff x="1813" y="0"/>
            <a:chExt cx="809173" cy="812800"/>
          </a:xfrm>
        </p:grpSpPr>
        <p:sp>
          <p:nvSpPr>
            <p:cNvPr id="140" name="Google Shape;140;p1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4"/>
          <p:cNvGrpSpPr/>
          <p:nvPr/>
        </p:nvGrpSpPr>
        <p:grpSpPr>
          <a:xfrm>
            <a:off x="9861899" y="8781545"/>
            <a:ext cx="406823" cy="408647"/>
            <a:chOff x="1813" y="0"/>
            <a:chExt cx="809173" cy="812800"/>
          </a:xfrm>
        </p:grpSpPr>
        <p:sp>
          <p:nvSpPr>
            <p:cNvPr id="143" name="Google Shape;143;p1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" name="Google Shape;145;p14"/>
          <p:cNvGrpSpPr/>
          <p:nvPr/>
        </p:nvGrpSpPr>
        <p:grpSpPr>
          <a:xfrm>
            <a:off x="10422946" y="8781545"/>
            <a:ext cx="406823" cy="408647"/>
            <a:chOff x="1813" y="0"/>
            <a:chExt cx="809173" cy="812800"/>
          </a:xfrm>
        </p:grpSpPr>
        <p:sp>
          <p:nvSpPr>
            <p:cNvPr id="146" name="Google Shape;146;p1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Google Shape;152;p15">
            <a:extLst>
              <a:ext uri="{FF2B5EF4-FFF2-40B4-BE49-F238E27FC236}">
                <a16:creationId xmlns:a16="http://schemas.microsoft.com/office/drawing/2014/main" id="{60A25461-2872-E716-89A9-60A2F2305292}"/>
              </a:ext>
            </a:extLst>
          </p:cNvPr>
          <p:cNvSpPr txBox="1"/>
          <p:nvPr/>
        </p:nvSpPr>
        <p:spPr>
          <a:xfrm>
            <a:off x="720538" y="556932"/>
            <a:ext cx="9528151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sz="9000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Introduction</a:t>
            </a:r>
            <a:endParaRPr dirty="0"/>
          </a:p>
        </p:txBody>
      </p:sp>
      <p:sp>
        <p:nvSpPr>
          <p:cNvPr id="6" name="Google Shape;126;p14">
            <a:extLst>
              <a:ext uri="{FF2B5EF4-FFF2-40B4-BE49-F238E27FC236}">
                <a16:creationId xmlns:a16="http://schemas.microsoft.com/office/drawing/2014/main" id="{45E25605-78C4-59C4-4AA9-512E5681574B}"/>
              </a:ext>
            </a:extLst>
          </p:cNvPr>
          <p:cNvSpPr txBox="1"/>
          <p:nvPr/>
        </p:nvSpPr>
        <p:spPr>
          <a:xfrm>
            <a:off x="861603" y="2304927"/>
            <a:ext cx="6910589" cy="754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Matrix Exponential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Google Shape;120;p14">
                <a:extLst>
                  <a:ext uri="{FF2B5EF4-FFF2-40B4-BE49-F238E27FC236}">
                    <a16:creationId xmlns:a16="http://schemas.microsoft.com/office/drawing/2014/main" id="{16338481-FC36-C4F1-77CA-7150B8ABAC4A}"/>
                  </a:ext>
                </a:extLst>
              </p:cNvPr>
              <p:cNvSpPr txBox="1"/>
              <p:nvPr/>
            </p:nvSpPr>
            <p:spPr>
              <a:xfrm>
                <a:off x="963965" y="3339576"/>
                <a:ext cx="8180035" cy="42480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342900" lvl="0" indent="-342900">
                  <a:lnSpc>
                    <a:spcPct val="13001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0B1320"/>
                    </a:solidFill>
                    <a:latin typeface="Playfair Display Black"/>
                    <a:ea typeface="Playfair Display Black"/>
                    <a:cs typeface="Playfair Display Black"/>
                    <a:sym typeface="Playfair Display Black"/>
                  </a:rPr>
                  <a:t>Matrix function on square matrices analogous to the ordinary exponential function.</a:t>
                </a:r>
              </a:p>
              <a:p>
                <a:pPr marL="342900" lvl="0" indent="-342900">
                  <a:lnSpc>
                    <a:spcPct val="130010"/>
                  </a:lnSpc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rgbClr val="0B1320"/>
                  </a:solidFill>
                  <a:latin typeface="Playfair Display Black"/>
                  <a:ea typeface="Playfair Display Black"/>
                  <a:cs typeface="Playfair Display Black"/>
                  <a:sym typeface="Playfair Display Black"/>
                </a:endParaRPr>
              </a:p>
              <a:p>
                <a:pPr marL="342900" lvl="0" indent="-342900">
                  <a:lnSpc>
                    <a:spcPct val="130010"/>
                  </a:lnSpc>
                  <a:buFont typeface="Arial" panose="020B0604020202020204" pitchFamily="34" charset="0"/>
                  <a:buChar char="•"/>
                </a:pPr>
                <a:r>
                  <a:rPr lang="en-US" sz="2400" u="sng" dirty="0">
                    <a:solidFill>
                      <a:srgbClr val="0B1320"/>
                    </a:solidFill>
                    <a:latin typeface="Playfair Display Black"/>
                    <a:ea typeface="Playfair Display Black"/>
                    <a:cs typeface="Playfair Display Black"/>
                    <a:sym typeface="Playfair Display Black"/>
                  </a:rPr>
                  <a:t>Definition: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  <a:ea typeface="Playfair Display Black"/>
                            <a:cs typeface="Playfair Display Black"/>
                            <a:sym typeface="Playfair Display Black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  <a:ea typeface="Playfair Display Black"/>
                            <a:cs typeface="Playfair Display Black"/>
                            <a:sym typeface="Playfair Display Black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  <a:ea typeface="Playfair Display Black"/>
                            <a:cs typeface="Playfair Display Black"/>
                            <a:sym typeface="Playfair Display Black"/>
                          </a:rPr>
                          <m:t>𝐴</m:t>
                        </m:r>
                      </m:sup>
                    </m:sSup>
                    <m:r>
                      <a:rPr lang="en-US" sz="2400" b="0" i="1" smtClean="0">
                        <a:solidFill>
                          <a:srgbClr val="0B1320"/>
                        </a:solidFill>
                        <a:latin typeface="Cambria Math" panose="02040503050406030204" pitchFamily="18" charset="0"/>
                        <a:ea typeface="Playfair Display Black"/>
                        <a:cs typeface="Playfair Display Black"/>
                        <a:sym typeface="Playfair Display Black"/>
                      </a:rPr>
                      <m:t>= </m:t>
                    </m:r>
                    <m:nary>
                      <m:naryPr>
                        <m:chr m:val="∑"/>
                        <m:limLoc m:val="subSup"/>
                        <m:ctrlPr>
                          <a:rPr lang="en-US" sz="2400" b="0" i="1" smtClean="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  <a:sym typeface="Playfair Display Black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400" b="0" i="1" smtClean="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  <a:sym typeface="Playfair Display Black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  <a:sym typeface="Playfair Display Black"/>
                          </a:rPr>
                          <m:t>=</m:t>
                        </m:r>
                        <m:r>
                          <m:rPr>
                            <m:brk m:alnAt="25"/>
                          </m:rPr>
                          <a:rPr lang="en-US" sz="2400" b="0" i="1" smtClean="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  <a:sym typeface="Playfair Display Black"/>
                          </a:rPr>
                          <m:t>0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Playfair Display Black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sz="2400" b="0" i="1" smtClean="0">
                                <a:solidFill>
                                  <a:srgbClr val="0B1320"/>
                                </a:solidFill>
                                <a:latin typeface="Cambria Math" panose="02040503050406030204" pitchFamily="18" charset="0"/>
                                <a:sym typeface="Playfair Display Black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b="0" i="1" smtClean="0">
                                    <a:solidFill>
                                      <a:srgbClr val="0B1320"/>
                                    </a:solidFill>
                                    <a:latin typeface="Cambria Math" panose="02040503050406030204" pitchFamily="18" charset="0"/>
                                    <a:sym typeface="Playfair Display Black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solidFill>
                                      <a:srgbClr val="0B1320"/>
                                    </a:solidFill>
                                    <a:latin typeface="Cambria Math" panose="02040503050406030204" pitchFamily="18" charset="0"/>
                                    <a:sym typeface="Playfair Display Black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solidFill>
                                      <a:srgbClr val="0B1320"/>
                                    </a:solidFill>
                                    <a:latin typeface="Cambria Math" panose="02040503050406030204" pitchFamily="18" charset="0"/>
                                    <a:sym typeface="Playfair Display Black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400" b="0" i="1" smtClean="0">
                                <a:solidFill>
                                  <a:srgbClr val="0B1320"/>
                                </a:solidFill>
                                <a:latin typeface="Cambria Math" panose="02040503050406030204" pitchFamily="18" charset="0"/>
                                <a:sym typeface="Playfair Display Black"/>
                              </a:rPr>
                              <m:t>𝑛</m:t>
                            </m:r>
                            <m:r>
                              <a:rPr lang="en-US" sz="2400" b="0" i="1" smtClean="0">
                                <a:solidFill>
                                  <a:srgbClr val="0B1320"/>
                                </a:solidFill>
                                <a:latin typeface="Cambria Math" panose="02040503050406030204" pitchFamily="18" charset="0"/>
                                <a:sym typeface="Playfair Display Black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sz="2400" dirty="0">
                    <a:solidFill>
                      <a:srgbClr val="0B1320"/>
                    </a:solidFill>
                    <a:latin typeface="Playfair Display Black"/>
                    <a:ea typeface="Playfair Display Black"/>
                    <a:cs typeface="Playfair Display Black"/>
                    <a:sym typeface="Playfair Display Black"/>
                  </a:rPr>
                  <a:t> , where A is square matrix.</a:t>
                </a:r>
              </a:p>
              <a:p>
                <a:pPr marL="342900" lvl="0" indent="-342900">
                  <a:lnSpc>
                    <a:spcPct val="130010"/>
                  </a:lnSpc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rgbClr val="0B1320"/>
                  </a:solidFill>
                  <a:latin typeface="Playfair Display Black"/>
                  <a:ea typeface="Playfair Display Black"/>
                  <a:cs typeface="Playfair Display Black"/>
                  <a:sym typeface="Playfair Display Black"/>
                </a:endParaRPr>
              </a:p>
              <a:p>
                <a:pPr marL="342900" lvl="0" indent="-342900">
                  <a:lnSpc>
                    <a:spcPct val="130010"/>
                  </a:lnSpc>
                  <a:buFont typeface="Arial" panose="020B0604020202020204" pitchFamily="34" charset="0"/>
                  <a:buChar char="•"/>
                </a:pPr>
                <a:r>
                  <a:rPr lang="en-US" sz="2400" u="sng" dirty="0">
                    <a:solidFill>
                      <a:srgbClr val="0B1320"/>
                    </a:solidFill>
                    <a:latin typeface="Playfair Display Black"/>
                    <a:ea typeface="Playfair Display Black"/>
                    <a:cs typeface="Playfair Display Black"/>
                    <a:sym typeface="Playfair Display Black"/>
                  </a:rPr>
                  <a:t>Use: </a:t>
                </a:r>
                <a:r>
                  <a:rPr lang="en-US" sz="2400" dirty="0">
                    <a:solidFill>
                      <a:srgbClr val="0B1320"/>
                    </a:solidFill>
                    <a:latin typeface="Playfair Display Black"/>
                    <a:ea typeface="Playfair Display Black"/>
                    <a:cs typeface="Playfair Display Black"/>
                    <a:sym typeface="Playfair Display Black"/>
                  </a:rPr>
                  <a:t>Commonly used in solving systems of differential equations and modeling dynamic systems.</a:t>
                </a:r>
                <a:r>
                  <a:rPr lang="en-US" sz="1600" dirty="0">
                    <a:solidFill>
                      <a:srgbClr val="0B1320"/>
                    </a:solidFill>
                    <a:latin typeface="Playfair Display Black"/>
                    <a:ea typeface="Playfair Display Black"/>
                    <a:cs typeface="Playfair Display Black"/>
                    <a:sym typeface="Playfair Display Black"/>
                  </a:rPr>
                  <a:t> (Modeling the growth or decay of populations , Evolving the state of a quantum system over time, etc.’)</a:t>
                </a:r>
              </a:p>
            </p:txBody>
          </p:sp>
        </mc:Choice>
        <mc:Fallback>
          <p:sp>
            <p:nvSpPr>
              <p:cNvPr id="9" name="Google Shape;120;p14">
                <a:extLst>
                  <a:ext uri="{FF2B5EF4-FFF2-40B4-BE49-F238E27FC236}">
                    <a16:creationId xmlns:a16="http://schemas.microsoft.com/office/drawing/2014/main" id="{16338481-FC36-C4F1-77CA-7150B8ABA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965" y="3339576"/>
                <a:ext cx="8180035" cy="4248022"/>
              </a:xfrm>
              <a:prstGeom prst="rect">
                <a:avLst/>
              </a:prstGeom>
              <a:blipFill>
                <a:blip r:embed="rId3"/>
                <a:stretch>
                  <a:fillRect l="-2086" t="-717" r="-1714" b="-10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FC9A2712-AAC4-84EE-0371-06ED2A5DA2BC}"/>
              </a:ext>
            </a:extLst>
          </p:cNvPr>
          <p:cNvSpPr txBox="1"/>
          <p:nvPr/>
        </p:nvSpPr>
        <p:spPr>
          <a:xfrm>
            <a:off x="10607638" y="1797949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F3F6FA"/>
                </a:solidFill>
                <a:latin typeface="Roboto"/>
                <a:ea typeface="Roboto"/>
                <a:cs typeface="Roboto"/>
              </a:rPr>
              <a:t>Challenges</a:t>
            </a:r>
            <a:r>
              <a:rPr lang="en-US" b="1" u="sng" dirty="0">
                <a:solidFill>
                  <a:schemeClr val="bg1"/>
                </a:solidFill>
              </a:rPr>
              <a:t> </a:t>
            </a:r>
            <a:r>
              <a:rPr lang="en-US" sz="2400" b="1" u="sng" dirty="0">
                <a:solidFill>
                  <a:srgbClr val="F3F6FA"/>
                </a:solidFill>
                <a:latin typeface="Roboto"/>
                <a:ea typeface="Roboto"/>
                <a:cs typeface="Roboto"/>
              </a:rPr>
              <a:t>of Computing Matrix Exponential</a:t>
            </a:r>
          </a:p>
          <a:p>
            <a:endParaRPr lang="en-US" sz="2400" dirty="0">
              <a:solidFill>
                <a:srgbClr val="F3F6FA"/>
              </a:solidFill>
              <a:latin typeface="Roboto"/>
              <a:ea typeface="Roboto"/>
              <a:cs typeface="Roboto"/>
            </a:endParaRPr>
          </a:p>
          <a:p>
            <a:r>
              <a:rPr lang="en-US" sz="2400" dirty="0">
                <a:solidFill>
                  <a:srgbClr val="F3F6FA"/>
                </a:solidFill>
                <a:latin typeface="Roboto"/>
                <a:ea typeface="Roboto"/>
                <a:cs typeface="Roboto"/>
              </a:rPr>
              <a:t>1) High computational cost for large matrices</a:t>
            </a:r>
          </a:p>
          <a:p>
            <a:endParaRPr lang="en-US" sz="2400" dirty="0">
              <a:solidFill>
                <a:srgbClr val="F3F6FA"/>
              </a:solidFill>
              <a:latin typeface="Roboto"/>
              <a:ea typeface="Roboto"/>
              <a:cs typeface="Roboto"/>
            </a:endParaRPr>
          </a:p>
          <a:p>
            <a:r>
              <a:rPr lang="en-US" sz="2400" dirty="0">
                <a:solidFill>
                  <a:srgbClr val="F3F6FA"/>
                </a:solidFill>
                <a:latin typeface="Roboto"/>
                <a:ea typeface="Roboto"/>
                <a:cs typeface="Roboto"/>
              </a:rPr>
              <a:t>2) Numerical stability issues for certain</a:t>
            </a:r>
          </a:p>
          <a:p>
            <a:r>
              <a:rPr lang="en-US" sz="2400" dirty="0">
                <a:solidFill>
                  <a:srgbClr val="F3F6FA"/>
                </a:solidFill>
                <a:latin typeface="Roboto"/>
                <a:ea typeface="Roboto"/>
                <a:cs typeface="Roboto"/>
              </a:rPr>
              <a:t> matrices</a:t>
            </a:r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85E40C2D-6076-6382-8101-14DF32E9FB22}"/>
              </a:ext>
            </a:extLst>
          </p:cNvPr>
          <p:cNvSpPr txBox="1"/>
          <p:nvPr/>
        </p:nvSpPr>
        <p:spPr>
          <a:xfrm>
            <a:off x="10607638" y="4831218"/>
            <a:ext cx="914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F3F6FA"/>
                </a:solidFill>
                <a:latin typeface="Roboto"/>
                <a:ea typeface="Roboto"/>
                <a:cs typeface="Roboto"/>
              </a:rPr>
              <a:t>Methods for Computing Matrix Exponential</a:t>
            </a:r>
          </a:p>
          <a:p>
            <a:endParaRPr lang="en-US" sz="2400" dirty="0">
              <a:solidFill>
                <a:srgbClr val="F3F6FA"/>
              </a:solidFill>
              <a:latin typeface="Roboto"/>
              <a:ea typeface="Roboto"/>
              <a:cs typeface="Roboto"/>
            </a:endParaRPr>
          </a:p>
          <a:p>
            <a:r>
              <a:rPr lang="en-US" sz="2400" dirty="0">
                <a:solidFill>
                  <a:srgbClr val="F3F6FA"/>
                </a:solidFill>
                <a:latin typeface="Roboto"/>
                <a:ea typeface="Roboto"/>
                <a:cs typeface="Roboto"/>
              </a:rPr>
              <a:t>1) Direct Methods </a:t>
            </a:r>
            <a:r>
              <a:rPr lang="en-US" sz="1200" dirty="0">
                <a:solidFill>
                  <a:srgbClr val="F3F6FA"/>
                </a:solidFill>
                <a:latin typeface="Roboto"/>
                <a:ea typeface="Roboto"/>
                <a:cs typeface="Roboto"/>
              </a:rPr>
              <a:t>(Jordan canonical form, Eigenvalue decomposition)</a:t>
            </a:r>
          </a:p>
          <a:p>
            <a:r>
              <a:rPr lang="en-US" sz="2400" dirty="0">
                <a:solidFill>
                  <a:srgbClr val="F3F6FA"/>
                </a:solidFill>
                <a:latin typeface="Roboto"/>
                <a:ea typeface="Roboto"/>
                <a:cs typeface="Roboto"/>
              </a:rPr>
              <a:t>2) Series Methods </a:t>
            </a:r>
            <a:r>
              <a:rPr lang="en-US" sz="1200" dirty="0">
                <a:solidFill>
                  <a:srgbClr val="F3F6FA"/>
                </a:solidFill>
                <a:latin typeface="Roboto"/>
                <a:ea typeface="Roboto"/>
                <a:cs typeface="Roboto"/>
              </a:rPr>
              <a:t>(Taylor series, Scaling and squaring method)</a:t>
            </a:r>
          </a:p>
          <a:p>
            <a:r>
              <a:rPr lang="en-US" sz="2400" dirty="0">
                <a:solidFill>
                  <a:srgbClr val="F3F6FA"/>
                </a:solidFill>
                <a:latin typeface="Roboto"/>
                <a:ea typeface="Roboto"/>
                <a:cs typeface="Roboto"/>
              </a:rPr>
              <a:t>3) Approximation Methods </a:t>
            </a:r>
            <a:r>
              <a:rPr lang="en-US" sz="1200" dirty="0">
                <a:solidFill>
                  <a:srgbClr val="F3F6FA"/>
                </a:solidFill>
                <a:latin typeface="Roboto"/>
                <a:ea typeface="Roboto"/>
                <a:cs typeface="Roboto"/>
              </a:rPr>
              <a:t>(Algorithms for efficient computation</a:t>
            </a:r>
            <a:r>
              <a:rPr lang="en-US" sz="2400" dirty="0">
                <a:solidFill>
                  <a:srgbClr val="F3F6FA"/>
                </a:solidFill>
                <a:latin typeface="Roboto"/>
                <a:ea typeface="Roboto"/>
                <a:cs typeface="Roboto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"/>
          <p:cNvSpPr txBox="1"/>
          <p:nvPr/>
        </p:nvSpPr>
        <p:spPr>
          <a:xfrm>
            <a:off x="-4452827" y="429085"/>
            <a:ext cx="1624407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sz="7500" b="0" i="0" u="none" strike="noStrike" cap="none" dirty="0" err="1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Pad</a:t>
            </a:r>
            <a:r>
              <a:rPr lang="en-US" sz="8000" dirty="0" err="1">
                <a:solidFill>
                  <a:srgbClr val="0B1320"/>
                </a:solidFill>
                <a:latin typeface="Playfair Display Black"/>
              </a:rPr>
              <a:t>é</a:t>
            </a:r>
            <a:r>
              <a:rPr lang="en-US" sz="7500" b="0" i="0" u="none" strike="noStrike" cap="none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 Method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תיבת טקסט 2">
                <a:extLst>
                  <a:ext uri="{FF2B5EF4-FFF2-40B4-BE49-F238E27FC236}">
                    <a16:creationId xmlns:a16="http://schemas.microsoft.com/office/drawing/2014/main" id="{FB95874E-A90F-8564-FAA7-DF6D011E9BAD}"/>
                  </a:ext>
                </a:extLst>
              </p:cNvPr>
              <p:cNvSpPr txBox="1"/>
              <p:nvPr/>
            </p:nvSpPr>
            <p:spPr>
              <a:xfrm>
                <a:off x="892277" y="2245616"/>
                <a:ext cx="11371006" cy="36929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10"/>
                  </a:lnSpc>
                </a:pPr>
                <a:r>
                  <a:rPr lang="en-US" sz="2400" b="1" u="sng" dirty="0">
                    <a:solidFill>
                      <a:srgbClr val="0B1320"/>
                    </a:solidFill>
                    <a:latin typeface="Playfair Display Black"/>
                  </a:rPr>
                  <a:t>What is </a:t>
                </a:r>
                <a:r>
                  <a:rPr lang="en-US" sz="2400" b="1" u="sng" dirty="0" err="1">
                    <a:solidFill>
                      <a:srgbClr val="0B1320"/>
                    </a:solidFill>
                    <a:latin typeface="Playfair Display Black"/>
                  </a:rPr>
                  <a:t>Padé</a:t>
                </a:r>
                <a:r>
                  <a:rPr lang="en-US" sz="2400" b="1" u="sng" dirty="0">
                    <a:solidFill>
                      <a:srgbClr val="0B1320"/>
                    </a:solidFill>
                    <a:latin typeface="Playfair Display Black"/>
                  </a:rPr>
                  <a:t> Approximation:</a:t>
                </a:r>
              </a:p>
              <a:p>
                <a:pPr marL="342900" indent="-342900">
                  <a:lnSpc>
                    <a:spcPct val="13001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0B1320"/>
                    </a:solidFill>
                    <a:latin typeface="Playfair Display Black"/>
                  </a:rPr>
                  <a:t>Rational function approximation of a function (ratio of polynomials)</a:t>
                </a:r>
              </a:p>
              <a:p>
                <a:pPr marL="342900" indent="-342900">
                  <a:lnSpc>
                    <a:spcPct val="13001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0B1320"/>
                    </a:solidFill>
                    <a:latin typeface="Playfair Display Black"/>
                  </a:rPr>
                  <a:t>Provides a more accurate approximation than other approximation methods.</a:t>
                </a:r>
              </a:p>
              <a:p>
                <a:pPr marL="342900" indent="-342900">
                  <a:lnSpc>
                    <a:spcPct val="13001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0B1320"/>
                    </a:solidFill>
                    <a:latin typeface="Playfair Display Black"/>
                  </a:rPr>
                  <a:t>Form: Approximates a function 𝑓(𝑥) by the ratio of two polynomials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0B132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rgbClr val="0B132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sz="2400" b="0" i="1" smtClean="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400" b="0" i="1" smtClean="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rgbClr val="0B1320"/>
                    </a:solidFill>
                    <a:latin typeface="Playfair Display Black"/>
                  </a:rPr>
                  <a:t>, where the polynomials are chosen to match the function’s behavior near a point.</a:t>
                </a:r>
              </a:p>
            </p:txBody>
          </p:sp>
        </mc:Choice>
        <mc:Fallback>
          <p:sp>
            <p:nvSpPr>
              <p:cNvPr id="3" name="תיבת טקסט 2">
                <a:extLst>
                  <a:ext uri="{FF2B5EF4-FFF2-40B4-BE49-F238E27FC236}">
                    <a16:creationId xmlns:a16="http://schemas.microsoft.com/office/drawing/2014/main" id="{FB95874E-A90F-8564-FAA7-DF6D011E9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277" y="2245616"/>
                <a:ext cx="11371006" cy="3692934"/>
              </a:xfrm>
              <a:prstGeom prst="rect">
                <a:avLst/>
              </a:prstGeom>
              <a:blipFill>
                <a:blip r:embed="rId3"/>
                <a:stretch>
                  <a:fillRect l="-804" b="-313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תיבת טקסט 6">
                <a:extLst>
                  <a:ext uri="{FF2B5EF4-FFF2-40B4-BE49-F238E27FC236}">
                    <a16:creationId xmlns:a16="http://schemas.microsoft.com/office/drawing/2014/main" id="{8711FDA1-F46A-6BDE-C31C-47787CDC4B8C}"/>
                  </a:ext>
                </a:extLst>
              </p:cNvPr>
              <p:cNvSpPr txBox="1"/>
              <p:nvPr/>
            </p:nvSpPr>
            <p:spPr>
              <a:xfrm>
                <a:off x="892277" y="6277753"/>
                <a:ext cx="11371006" cy="14835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10"/>
                  </a:lnSpc>
                </a:pPr>
                <a:r>
                  <a:rPr lang="en-US" sz="2400" b="1" u="sng" dirty="0">
                    <a:solidFill>
                      <a:srgbClr val="0B1320"/>
                    </a:solidFill>
                    <a:latin typeface="Playfair Display Black"/>
                  </a:rPr>
                  <a:t>Padé Approximation for Matrix Exponential </a:t>
                </a:r>
              </a:p>
              <a:p>
                <a:pPr>
                  <a:lnSpc>
                    <a:spcPct val="13001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0B1320"/>
                    </a:solidFill>
                    <a:latin typeface="Playfair Display Black"/>
                  </a:rPr>
                  <a:t> Approximating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0B1320"/>
                    </a:solidFill>
                    <a:latin typeface="Playfair Display Black"/>
                  </a:rPr>
                  <a:t> with a rational function of matrices.</a:t>
                </a:r>
              </a:p>
              <a:p>
                <a:pPr>
                  <a:lnSpc>
                    <a:spcPct val="13001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0B1320"/>
                    </a:solidFill>
                    <a:latin typeface="Playfair Display Black"/>
                  </a:rPr>
                  <a:t> Can improve accuracy and efficiency compared to direct computation.</a:t>
                </a:r>
              </a:p>
            </p:txBody>
          </p:sp>
        </mc:Choice>
        <mc:Fallback>
          <p:sp>
            <p:nvSpPr>
              <p:cNvPr id="7" name="תיבת טקסט 6">
                <a:extLst>
                  <a:ext uri="{FF2B5EF4-FFF2-40B4-BE49-F238E27FC236}">
                    <a16:creationId xmlns:a16="http://schemas.microsoft.com/office/drawing/2014/main" id="{8711FDA1-F46A-6BDE-C31C-47787CDC4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277" y="6277753"/>
                <a:ext cx="11371006" cy="1483548"/>
              </a:xfrm>
              <a:prstGeom prst="rect">
                <a:avLst/>
              </a:prstGeom>
              <a:blipFill>
                <a:blip r:embed="rId4"/>
                <a:stretch>
                  <a:fillRect l="-804" b="-905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תמונה 8">
            <a:extLst>
              <a:ext uri="{FF2B5EF4-FFF2-40B4-BE49-F238E27FC236}">
                <a16:creationId xmlns:a16="http://schemas.microsoft.com/office/drawing/2014/main" id="{25824A89-71B6-22FE-76DB-734B3CFC68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72943" y="0"/>
            <a:ext cx="2915057" cy="3410426"/>
          </a:xfrm>
          <a:prstGeom prst="rect">
            <a:avLst/>
          </a:prstGeom>
        </p:spPr>
      </p:pic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3328B332-446E-4A58-0A3E-AD2152EF6783}"/>
              </a:ext>
            </a:extLst>
          </p:cNvPr>
          <p:cNvSpPr txBox="1"/>
          <p:nvPr/>
        </p:nvSpPr>
        <p:spPr>
          <a:xfrm>
            <a:off x="15011399" y="3410426"/>
            <a:ext cx="83736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1000" dirty="0"/>
              <a:t>https://en.wikipedia.org/wiki/Pad%C3%A9_approximant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22"/>
          <p:cNvGrpSpPr/>
          <p:nvPr/>
        </p:nvGrpSpPr>
        <p:grpSpPr>
          <a:xfrm>
            <a:off x="1028700" y="884039"/>
            <a:ext cx="16230600" cy="8374261"/>
            <a:chOff x="0" y="-38100"/>
            <a:chExt cx="4274726" cy="2205567"/>
          </a:xfrm>
        </p:grpSpPr>
        <p:sp>
          <p:nvSpPr>
            <p:cNvPr id="410" name="Google Shape;410;p22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F3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2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14" name="Google Shape;414;p22"/>
          <p:cNvCxnSpPr/>
          <p:nvPr/>
        </p:nvCxnSpPr>
        <p:spPr>
          <a:xfrm>
            <a:off x="1766932" y="1886465"/>
            <a:ext cx="12719299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15" name="Google Shape;415;p22"/>
          <p:cNvGrpSpPr/>
          <p:nvPr/>
        </p:nvGrpSpPr>
        <p:grpSpPr>
          <a:xfrm>
            <a:off x="14988611" y="1682141"/>
            <a:ext cx="406823" cy="408647"/>
            <a:chOff x="1813" y="0"/>
            <a:chExt cx="809173" cy="812800"/>
          </a:xfrm>
        </p:grpSpPr>
        <p:sp>
          <p:nvSpPr>
            <p:cNvPr id="416" name="Google Shape;416;p22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8" name="Google Shape;418;p22"/>
          <p:cNvGrpSpPr/>
          <p:nvPr/>
        </p:nvGrpSpPr>
        <p:grpSpPr>
          <a:xfrm>
            <a:off x="15552286" y="1682141"/>
            <a:ext cx="406823" cy="408647"/>
            <a:chOff x="1813" y="0"/>
            <a:chExt cx="809173" cy="812800"/>
          </a:xfrm>
        </p:grpSpPr>
        <p:sp>
          <p:nvSpPr>
            <p:cNvPr id="419" name="Google Shape;419;p22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1" name="Google Shape;421;p22"/>
          <p:cNvGrpSpPr/>
          <p:nvPr/>
        </p:nvGrpSpPr>
        <p:grpSpPr>
          <a:xfrm>
            <a:off x="16113333" y="1682141"/>
            <a:ext cx="406823" cy="408647"/>
            <a:chOff x="1813" y="0"/>
            <a:chExt cx="809173" cy="812800"/>
          </a:xfrm>
        </p:grpSpPr>
        <p:sp>
          <p:nvSpPr>
            <p:cNvPr id="422" name="Google Shape;422;p22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Google Shape;203;p16">
            <a:extLst>
              <a:ext uri="{FF2B5EF4-FFF2-40B4-BE49-F238E27FC236}">
                <a16:creationId xmlns:a16="http://schemas.microsoft.com/office/drawing/2014/main" id="{9C51D16A-5E17-2C4D-D79A-F2BEC3EDD464}"/>
              </a:ext>
            </a:extLst>
          </p:cNvPr>
          <p:cNvSpPr txBox="1"/>
          <p:nvPr/>
        </p:nvSpPr>
        <p:spPr>
          <a:xfrm>
            <a:off x="754871" y="1950620"/>
            <a:ext cx="1624407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sz="7500" b="0" i="0" u="none" strike="noStrike" cap="none" dirty="0" err="1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Pad</a:t>
            </a:r>
            <a:r>
              <a:rPr lang="en-US" sz="8000" dirty="0" err="1">
                <a:solidFill>
                  <a:srgbClr val="0B1320"/>
                </a:solidFill>
                <a:latin typeface="Playfair Display Black"/>
              </a:rPr>
              <a:t>é</a:t>
            </a:r>
            <a:r>
              <a:rPr lang="en-US" sz="7500" b="0" i="0" u="none" strike="noStrike" cap="none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 Method equitation's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Google Shape;126;p14">
                <a:extLst>
                  <a:ext uri="{FF2B5EF4-FFF2-40B4-BE49-F238E27FC236}">
                    <a16:creationId xmlns:a16="http://schemas.microsoft.com/office/drawing/2014/main" id="{17CF2F71-DBAF-4FCB-3E35-FCB4CA7CA640}"/>
                  </a:ext>
                </a:extLst>
              </p:cNvPr>
              <p:cNvSpPr txBox="1"/>
              <p:nvPr/>
            </p:nvSpPr>
            <p:spPr>
              <a:xfrm>
                <a:off x="3976248" y="4400261"/>
                <a:ext cx="9801323" cy="32549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dirty="0">
                    <a:solidFill>
                      <a:srgbClr val="0B1320"/>
                    </a:solidFill>
                    <a:latin typeface="Playfair Display Black"/>
                  </a:rPr>
                  <a:t>If A is an  matrix (</a:t>
                </a:r>
                <a:r>
                  <a:rPr lang="en-US" sz="2000" dirty="0" err="1">
                    <a:solidFill>
                      <a:srgbClr val="0B1320"/>
                    </a:solidFill>
                    <a:latin typeface="Playfair Display Black"/>
                  </a:rPr>
                  <a:t>n,n</a:t>
                </a:r>
                <a:r>
                  <a:rPr lang="en-US" sz="2000" dirty="0">
                    <a:solidFill>
                      <a:srgbClr val="0B1320"/>
                    </a:solidFill>
                    <a:latin typeface="Playfair Display Black"/>
                  </a:rPr>
                  <a:t>) , the </a:t>
                </a:r>
                <a:r>
                  <a:rPr lang="en-US" sz="2000" dirty="0" err="1">
                    <a:solidFill>
                      <a:srgbClr val="0B1320"/>
                    </a:solidFill>
                    <a:latin typeface="Playfair Display Black"/>
                  </a:rPr>
                  <a:t>p,g</a:t>
                </a:r>
                <a:r>
                  <a:rPr lang="en-US" sz="2000" dirty="0">
                    <a:solidFill>
                      <a:srgbClr val="0B1320"/>
                    </a:solidFill>
                    <a:latin typeface="Playfair Display Black"/>
                  </a:rPr>
                  <a:t> </a:t>
                </a:r>
                <a:r>
                  <a:rPr lang="en-US" sz="2000" dirty="0" err="1">
                    <a:solidFill>
                      <a:srgbClr val="0B1320"/>
                    </a:solidFill>
                    <a:latin typeface="Playfair Display Black"/>
                  </a:rPr>
                  <a:t>Pade</a:t>
                </a:r>
                <a:r>
                  <a:rPr lang="en-US" sz="2000" dirty="0">
                    <a:solidFill>
                      <a:srgbClr val="0B1320"/>
                    </a:solidFill>
                    <a:latin typeface="Playfair Display Black"/>
                  </a:rPr>
                  <a:t> approximation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>
                            <a:solidFill>
                              <a:srgbClr val="0B1320"/>
                            </a:solidFill>
                            <a:latin typeface="Playfair Display Black"/>
                          </a:rPr>
                        </m:ctrlPr>
                      </m:sSupPr>
                      <m:e>
                        <m:r>
                          <a:rPr lang="en-US" sz="2000">
                            <a:solidFill>
                              <a:srgbClr val="0B1320"/>
                            </a:solidFill>
                            <a:latin typeface="Playfair Display Black"/>
                          </a:rPr>
                          <m:t>𝑒</m:t>
                        </m:r>
                      </m:e>
                      <m:sup>
                        <m:r>
                          <a:rPr lang="en-US" sz="2000">
                            <a:solidFill>
                              <a:srgbClr val="0B1320"/>
                            </a:solidFill>
                            <a:latin typeface="Playfair Display Black"/>
                          </a:rPr>
                          <m:t>𝐴</m:t>
                        </m:r>
                      </m:sup>
                    </m:sSup>
                    <m:r>
                      <a:rPr lang="en-US" sz="2000">
                        <a:solidFill>
                          <a:srgbClr val="0B1320"/>
                        </a:solidFill>
                        <a:latin typeface="Playfair Display Black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0B1320"/>
                    </a:solidFill>
                    <a:latin typeface="Playfair Display Black"/>
                  </a:rPr>
                  <a:t>is defined by</a:t>
                </a:r>
              </a:p>
              <a:p>
                <a:pPr marL="0" marR="0" lvl="0" indent="0" algn="l" rtl="0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>
                              <a:solidFill>
                                <a:srgbClr val="0B1320"/>
                              </a:solidFill>
                              <a:latin typeface="Playfair Display Black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rgbClr val="0B1320"/>
                              </a:solidFill>
                              <a:latin typeface="Playfair Display Black"/>
                            </a:rPr>
                            <m:t>𝑅</m:t>
                          </m:r>
                        </m:e>
                        <m:sub>
                          <m:r>
                            <a:rPr lang="en-US" sz="2000">
                              <a:solidFill>
                                <a:srgbClr val="0B1320"/>
                              </a:solidFill>
                              <a:latin typeface="Playfair Display Black"/>
                            </a:rPr>
                            <m:t>𝑝𝑞</m:t>
                          </m:r>
                        </m:sub>
                      </m:sSub>
                      <m:d>
                        <m:dPr>
                          <m:ctrlPr>
                            <a:rPr lang="en-US" sz="2000">
                              <a:solidFill>
                                <a:srgbClr val="0B1320"/>
                              </a:solidFill>
                              <a:latin typeface="Playfair Display Black"/>
                            </a:rPr>
                          </m:ctrlPr>
                        </m:dPr>
                        <m:e>
                          <m:r>
                            <a:rPr lang="en-US" sz="2000">
                              <a:solidFill>
                                <a:srgbClr val="0B1320"/>
                              </a:solidFill>
                              <a:latin typeface="Playfair Display Black"/>
                            </a:rPr>
                            <m:t>𝐴</m:t>
                          </m:r>
                        </m:e>
                      </m:d>
                      <m:r>
                        <a:rPr lang="en-US" sz="2000">
                          <a:solidFill>
                            <a:srgbClr val="0B1320"/>
                          </a:solidFill>
                          <a:latin typeface="Playfair Display Black"/>
                        </a:rPr>
                        <m:t>=</m:t>
                      </m:r>
                      <m:sSup>
                        <m:sSupPr>
                          <m:ctrlPr>
                            <a:rPr lang="en-US" sz="2000">
                              <a:solidFill>
                                <a:srgbClr val="0B1320"/>
                              </a:solidFill>
                              <a:latin typeface="Playfair Display Black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000">
                                  <a:solidFill>
                                    <a:srgbClr val="0B1320"/>
                                  </a:solidFill>
                                  <a:latin typeface="Playfair Display Black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>
                                      <a:solidFill>
                                        <a:srgbClr val="0B1320"/>
                                      </a:solidFill>
                                      <a:latin typeface="Playfair Display Black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>
                                      <a:solidFill>
                                        <a:srgbClr val="0B1320"/>
                                      </a:solidFill>
                                      <a:latin typeface="Playfair Display Black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sz="2000">
                                      <a:solidFill>
                                        <a:srgbClr val="0B1320"/>
                                      </a:solidFill>
                                      <a:latin typeface="Playfair Display Black"/>
                                    </a:rPr>
                                    <m:t>𝑝𝑞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>
                                      <a:solidFill>
                                        <a:srgbClr val="0B1320"/>
                                      </a:solidFill>
                                      <a:latin typeface="Playfair Display Black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solidFill>
                                        <a:srgbClr val="0B1320"/>
                                      </a:solidFill>
                                      <a:latin typeface="Playfair Display Black"/>
                                    </a:rPr>
                                    <m:t>𝐴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000">
                              <a:solidFill>
                                <a:srgbClr val="0B1320"/>
                              </a:solidFill>
                              <a:latin typeface="Playfair Display Black"/>
                            </a:rPr>
                            <m:t>−</m:t>
                          </m:r>
                          <m:r>
                            <a:rPr lang="en-US" sz="2000">
                              <a:solidFill>
                                <a:srgbClr val="0B1320"/>
                              </a:solidFill>
                              <a:latin typeface="Playfair Display Black"/>
                            </a:rPr>
                            <m:t>1</m:t>
                          </m:r>
                        </m:sup>
                      </m:sSup>
                      <m:r>
                        <a:rPr lang="en-US" sz="2000">
                          <a:solidFill>
                            <a:srgbClr val="0B1320"/>
                          </a:solidFill>
                          <a:latin typeface="Playfair Display Black"/>
                        </a:rPr>
                        <m:t>∗</m:t>
                      </m:r>
                      <m:sSub>
                        <m:sSubPr>
                          <m:ctrlPr>
                            <a:rPr lang="en-US" sz="2000">
                              <a:solidFill>
                                <a:srgbClr val="0B1320"/>
                              </a:solidFill>
                              <a:latin typeface="Playfair Display Black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rgbClr val="0B1320"/>
                              </a:solidFill>
                              <a:latin typeface="Playfair Display Black"/>
                            </a:rPr>
                            <m:t>𝑁</m:t>
                          </m:r>
                        </m:e>
                        <m:sub>
                          <m:r>
                            <a:rPr lang="en-US" sz="2000">
                              <a:solidFill>
                                <a:srgbClr val="0B1320"/>
                              </a:solidFill>
                              <a:latin typeface="Playfair Display Black"/>
                            </a:rPr>
                            <m:t>𝑝𝑞</m:t>
                          </m:r>
                        </m:sub>
                      </m:sSub>
                      <m:d>
                        <m:dPr>
                          <m:ctrlPr>
                            <a:rPr lang="en-US" sz="2000">
                              <a:solidFill>
                                <a:srgbClr val="0B1320"/>
                              </a:solidFill>
                              <a:latin typeface="Playfair Display Black"/>
                            </a:rPr>
                          </m:ctrlPr>
                        </m:dPr>
                        <m:e>
                          <m:r>
                            <a:rPr lang="en-US" sz="2000">
                              <a:solidFill>
                                <a:srgbClr val="0B1320"/>
                              </a:solidFill>
                              <a:latin typeface="Playfair Display Black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0B1320"/>
                  </a:solidFill>
                  <a:latin typeface="Playfair Display Black"/>
                </a:endParaRPr>
              </a:p>
              <a:p>
                <a:pPr marL="0" marR="0" lvl="0" indent="0" algn="l" rtl="0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dirty="0">
                    <a:solidFill>
                      <a:srgbClr val="0B1320"/>
                    </a:solidFill>
                    <a:latin typeface="Playfair Display Black"/>
                  </a:rPr>
                  <a:t>Where</a:t>
                </a:r>
              </a:p>
              <a:p>
                <a:pPr marL="0" marR="0" lvl="0" indent="0" algn="l" rtl="0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dirty="0">
                    <a:solidFill>
                      <a:srgbClr val="0B1320"/>
                    </a:solidFill>
                    <a:latin typeface="Playfair Display Black"/>
                  </a:rPr>
                  <a:t>		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>
                            <a:solidFill>
                              <a:srgbClr val="0B1320"/>
                            </a:solidFill>
                            <a:latin typeface="Playfair Display Black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srgbClr val="0B1320"/>
                            </a:solidFill>
                            <a:latin typeface="Playfair Display Black"/>
                          </a:rPr>
                          <m:t>𝑁</m:t>
                        </m:r>
                      </m:e>
                      <m:sub>
                        <m:r>
                          <a:rPr lang="en-US" sz="2000">
                            <a:solidFill>
                              <a:srgbClr val="0B1320"/>
                            </a:solidFill>
                            <a:latin typeface="Playfair Display Black"/>
                          </a:rPr>
                          <m:t>𝑝𝑞</m:t>
                        </m:r>
                      </m:sub>
                    </m:sSub>
                    <m:d>
                      <m:dPr>
                        <m:ctrlPr>
                          <a:rPr lang="en-US" sz="2000">
                            <a:solidFill>
                              <a:srgbClr val="0B1320"/>
                            </a:solidFill>
                            <a:latin typeface="Playfair Display Black"/>
                          </a:rPr>
                        </m:ctrlPr>
                      </m:dPr>
                      <m:e>
                        <m:r>
                          <a:rPr lang="en-US" sz="2000">
                            <a:solidFill>
                              <a:srgbClr val="0B1320"/>
                            </a:solidFill>
                            <a:latin typeface="Playfair Display Black"/>
                          </a:rPr>
                          <m:t>𝐴</m:t>
                        </m:r>
                      </m:e>
                    </m:d>
                    <m:r>
                      <a:rPr lang="en-US" sz="2000">
                        <a:solidFill>
                          <a:srgbClr val="0B1320"/>
                        </a:solidFill>
                        <a:latin typeface="Playfair Display Black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>
                            <a:solidFill>
                              <a:srgbClr val="0B1320"/>
                            </a:solidFill>
                            <a:latin typeface="Playfair Display Black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>
                            <a:solidFill>
                              <a:srgbClr val="0B1320"/>
                            </a:solidFill>
                            <a:latin typeface="Playfair Display Black"/>
                          </a:rPr>
                          <m:t>𝑗</m:t>
                        </m:r>
                        <m:r>
                          <a:rPr lang="en-US" sz="2000">
                            <a:solidFill>
                              <a:srgbClr val="0B1320"/>
                            </a:solidFill>
                            <a:latin typeface="Playfair Display Black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000">
                            <a:solidFill>
                              <a:srgbClr val="0B1320"/>
                            </a:solidFill>
                            <a:latin typeface="Playfair Display Black"/>
                          </a:rPr>
                          <m:t>0</m:t>
                        </m:r>
                      </m:sub>
                      <m:sup>
                        <m:r>
                          <a:rPr lang="en-US" sz="2000">
                            <a:solidFill>
                              <a:srgbClr val="0B1320"/>
                            </a:solidFill>
                            <a:latin typeface="Playfair Display Black"/>
                          </a:rPr>
                          <m:t>𝑝</m:t>
                        </m:r>
                      </m:sup>
                      <m:e>
                        <m:f>
                          <m:fPr>
                            <m:ctrlPr>
                              <a:rPr lang="en-US" sz="2000">
                                <a:solidFill>
                                  <a:srgbClr val="0B1320"/>
                                </a:solidFill>
                                <a:latin typeface="Playfair Display Black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sz="2000">
                                    <a:solidFill>
                                      <a:srgbClr val="0B1320"/>
                                    </a:solidFill>
                                    <a:latin typeface="Playfair Display Black"/>
                                  </a:rPr>
                                </m:ctrlPr>
                              </m:dPr>
                              <m:e>
                                <m:r>
                                  <a:rPr lang="en-US" sz="2000">
                                    <a:solidFill>
                                      <a:srgbClr val="0B1320"/>
                                    </a:solidFill>
                                    <a:latin typeface="Playfair Display Black"/>
                                  </a:rPr>
                                  <m:t>𝑝</m:t>
                                </m:r>
                                <m:r>
                                  <a:rPr lang="en-US" sz="2000">
                                    <a:solidFill>
                                      <a:srgbClr val="0B1320"/>
                                    </a:solidFill>
                                    <a:latin typeface="Playfair Display Black"/>
                                  </a:rPr>
                                  <m:t>+</m:t>
                                </m:r>
                                <m:r>
                                  <a:rPr lang="en-US" sz="2000">
                                    <a:solidFill>
                                      <a:srgbClr val="0B1320"/>
                                    </a:solidFill>
                                    <a:latin typeface="Playfair Display Black"/>
                                  </a:rPr>
                                  <m:t>𝑞</m:t>
                                </m:r>
                                <m:r>
                                  <a:rPr lang="en-US" sz="2000">
                                    <a:solidFill>
                                      <a:srgbClr val="0B1320"/>
                                    </a:solidFill>
                                    <a:latin typeface="Playfair Display Black"/>
                                  </a:rPr>
                                  <m:t>−</m:t>
                                </m:r>
                                <m:r>
                                  <a:rPr lang="en-US" sz="2000">
                                    <a:solidFill>
                                      <a:srgbClr val="0B1320"/>
                                    </a:solidFill>
                                    <a:latin typeface="Playfair Display Black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sz="2000">
                                <a:solidFill>
                                  <a:srgbClr val="0B1320"/>
                                </a:solidFill>
                                <a:latin typeface="Playfair Display Black"/>
                              </a:rPr>
                              <m:t>!</m:t>
                            </m:r>
                            <m:r>
                              <a:rPr lang="en-US" sz="2000">
                                <a:solidFill>
                                  <a:srgbClr val="0B1320"/>
                                </a:solidFill>
                                <a:latin typeface="Playfair Display Black"/>
                              </a:rPr>
                              <m:t>𝑝</m:t>
                            </m:r>
                            <m:r>
                              <a:rPr lang="en-US" sz="2000">
                                <a:solidFill>
                                  <a:srgbClr val="0B1320"/>
                                </a:solidFill>
                                <a:latin typeface="Playfair Display Black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sz="2000">
                                    <a:solidFill>
                                      <a:srgbClr val="0B1320"/>
                                    </a:solidFill>
                                    <a:latin typeface="Playfair Display Black"/>
                                  </a:rPr>
                                </m:ctrlPr>
                              </m:dPr>
                              <m:e>
                                <m:r>
                                  <a:rPr lang="en-US" sz="2000">
                                    <a:solidFill>
                                      <a:srgbClr val="0B1320"/>
                                    </a:solidFill>
                                    <a:latin typeface="Playfair Display Black"/>
                                  </a:rPr>
                                  <m:t>𝑝</m:t>
                                </m:r>
                                <m:r>
                                  <a:rPr lang="en-US" sz="2000">
                                    <a:solidFill>
                                      <a:srgbClr val="0B1320"/>
                                    </a:solidFill>
                                    <a:latin typeface="Playfair Display Black"/>
                                  </a:rPr>
                                  <m:t>+</m:t>
                                </m:r>
                                <m:r>
                                  <a:rPr lang="en-US" sz="2000">
                                    <a:solidFill>
                                      <a:srgbClr val="0B1320"/>
                                    </a:solidFill>
                                    <a:latin typeface="Playfair Display Black"/>
                                  </a:rPr>
                                  <m:t>𝑞</m:t>
                                </m:r>
                              </m:e>
                            </m:d>
                            <m:r>
                              <a:rPr lang="en-US" sz="2000">
                                <a:solidFill>
                                  <a:srgbClr val="0B1320"/>
                                </a:solidFill>
                                <a:latin typeface="Playfair Display Black"/>
                              </a:rPr>
                              <m:t>!</m:t>
                            </m:r>
                            <m:r>
                              <a:rPr lang="en-US" sz="2000">
                                <a:solidFill>
                                  <a:srgbClr val="0B1320"/>
                                </a:solidFill>
                                <a:latin typeface="Playfair Display Black"/>
                              </a:rPr>
                              <m:t>𝑗</m:t>
                            </m:r>
                            <m:r>
                              <a:rPr lang="en-US" sz="2000">
                                <a:solidFill>
                                  <a:srgbClr val="0B1320"/>
                                </a:solidFill>
                                <a:latin typeface="Playfair Display Black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sz="2000">
                                    <a:solidFill>
                                      <a:srgbClr val="0B1320"/>
                                    </a:solidFill>
                                    <a:latin typeface="Playfair Display Black"/>
                                  </a:rPr>
                                </m:ctrlPr>
                              </m:dPr>
                              <m:e>
                                <m:r>
                                  <a:rPr lang="en-US" sz="2000">
                                    <a:solidFill>
                                      <a:srgbClr val="0B1320"/>
                                    </a:solidFill>
                                    <a:latin typeface="Playfair Display Black"/>
                                  </a:rPr>
                                  <m:t>𝑝</m:t>
                                </m:r>
                                <m:r>
                                  <a:rPr lang="en-US" sz="2000">
                                    <a:solidFill>
                                      <a:srgbClr val="0B1320"/>
                                    </a:solidFill>
                                    <a:latin typeface="Playfair Display Black"/>
                                  </a:rPr>
                                  <m:t>−</m:t>
                                </m:r>
                                <m:r>
                                  <a:rPr lang="en-US" sz="2000">
                                    <a:solidFill>
                                      <a:srgbClr val="0B1320"/>
                                    </a:solidFill>
                                    <a:latin typeface="Playfair Display Black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sz="2000">
                                <a:solidFill>
                                  <a:srgbClr val="0B1320"/>
                                </a:solidFill>
                                <a:latin typeface="Playfair Display Black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lang="en-US" sz="2000">
                                <a:solidFill>
                                  <a:srgbClr val="0B1320"/>
                                </a:solidFill>
                                <a:latin typeface="Playfair Display Black"/>
                              </a:rPr>
                            </m:ctrlPr>
                          </m:sSupPr>
                          <m:e>
                            <m:r>
                              <a:rPr lang="en-US" sz="2000">
                                <a:solidFill>
                                  <a:srgbClr val="0B1320"/>
                                </a:solidFill>
                                <a:latin typeface="Playfair Display Black"/>
                              </a:rPr>
                              <m:t>𝐴</m:t>
                            </m:r>
                          </m:e>
                          <m:sup>
                            <m:r>
                              <a:rPr lang="en-US" sz="2000">
                                <a:solidFill>
                                  <a:srgbClr val="0B1320"/>
                                </a:solidFill>
                                <a:latin typeface="Playfair Display Black"/>
                              </a:rPr>
                              <m:t>𝑗</m:t>
                            </m:r>
                          </m:sup>
                        </m:sSup>
                      </m:e>
                    </m:nary>
                  </m:oMath>
                </a14:m>
                <a:endParaRPr lang="en-US" sz="2000" dirty="0">
                  <a:solidFill>
                    <a:srgbClr val="0B1320"/>
                  </a:solidFill>
                  <a:latin typeface="Playfair Display Black"/>
                </a:endParaRPr>
              </a:p>
              <a:p>
                <a:pPr marL="0" marR="0" lvl="0" indent="0" algn="l" rtl="0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dirty="0">
                    <a:solidFill>
                      <a:srgbClr val="0B1320"/>
                    </a:solidFill>
                    <a:latin typeface="Playfair Display Black"/>
                  </a:rPr>
                  <a:t>And</a:t>
                </a:r>
              </a:p>
              <a:p>
                <a:pPr lvl="0">
                  <a:lnSpc>
                    <a:spcPct val="140000"/>
                  </a:lnSpc>
                </a:pPr>
                <a:r>
                  <a:rPr lang="en-US" sz="2000" dirty="0">
                    <a:solidFill>
                      <a:srgbClr val="0B1320"/>
                    </a:solidFill>
                    <a:latin typeface="Playfair Display Black"/>
                  </a:rPr>
                  <a:t>		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>
                            <a:solidFill>
                              <a:srgbClr val="0B1320"/>
                            </a:solidFill>
                            <a:latin typeface="Playfair Display Black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srgbClr val="0B1320"/>
                            </a:solidFill>
                            <a:latin typeface="Playfair Display Black"/>
                          </a:rPr>
                          <m:t>𝐷</m:t>
                        </m:r>
                      </m:e>
                      <m:sub>
                        <m:r>
                          <a:rPr lang="en-US" sz="2000">
                            <a:solidFill>
                              <a:srgbClr val="0B1320"/>
                            </a:solidFill>
                            <a:latin typeface="Playfair Display Black"/>
                          </a:rPr>
                          <m:t>𝑝𝑞</m:t>
                        </m:r>
                      </m:sub>
                    </m:sSub>
                    <m:d>
                      <m:dPr>
                        <m:ctrlPr>
                          <a:rPr lang="en-US" sz="2000">
                            <a:solidFill>
                              <a:srgbClr val="0B1320"/>
                            </a:solidFill>
                            <a:latin typeface="Playfair Display Black"/>
                          </a:rPr>
                        </m:ctrlPr>
                      </m:dPr>
                      <m:e>
                        <m:r>
                          <a:rPr lang="en-US" sz="2000">
                            <a:solidFill>
                              <a:srgbClr val="0B1320"/>
                            </a:solidFill>
                            <a:latin typeface="Playfair Display Black"/>
                          </a:rPr>
                          <m:t>𝐴</m:t>
                        </m:r>
                      </m:e>
                    </m:d>
                    <m:r>
                      <a:rPr lang="en-US" sz="2000">
                        <a:solidFill>
                          <a:srgbClr val="0B1320"/>
                        </a:solidFill>
                        <a:latin typeface="Playfair Display Black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>
                            <a:solidFill>
                              <a:srgbClr val="0B1320"/>
                            </a:solidFill>
                            <a:latin typeface="Playfair Display Black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>
                            <a:solidFill>
                              <a:srgbClr val="0B1320"/>
                            </a:solidFill>
                            <a:latin typeface="Playfair Display Black"/>
                          </a:rPr>
                          <m:t>𝑗</m:t>
                        </m:r>
                        <m:r>
                          <a:rPr lang="en-US" sz="2000">
                            <a:solidFill>
                              <a:srgbClr val="0B1320"/>
                            </a:solidFill>
                            <a:latin typeface="Playfair Display Black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000">
                            <a:solidFill>
                              <a:srgbClr val="0B1320"/>
                            </a:solidFill>
                            <a:latin typeface="Playfair Display Black"/>
                          </a:rPr>
                          <m:t>0</m:t>
                        </m:r>
                      </m:sub>
                      <m:sup>
                        <m:r>
                          <a:rPr lang="en-US" sz="2000">
                            <a:solidFill>
                              <a:srgbClr val="0B1320"/>
                            </a:solidFill>
                            <a:latin typeface="Playfair Display Black"/>
                          </a:rPr>
                          <m:t>𝑞</m:t>
                        </m:r>
                      </m:sup>
                      <m:e>
                        <m:f>
                          <m:fPr>
                            <m:ctrlPr>
                              <a:rPr lang="en-US" sz="2000">
                                <a:solidFill>
                                  <a:srgbClr val="0B1320"/>
                                </a:solidFill>
                                <a:latin typeface="Playfair Display Black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sz="2000">
                                    <a:solidFill>
                                      <a:srgbClr val="0B1320"/>
                                    </a:solidFill>
                                    <a:latin typeface="Playfair Display Black"/>
                                  </a:rPr>
                                </m:ctrlPr>
                              </m:dPr>
                              <m:e>
                                <m:r>
                                  <a:rPr lang="en-US" sz="2000">
                                    <a:solidFill>
                                      <a:srgbClr val="0B1320"/>
                                    </a:solidFill>
                                    <a:latin typeface="Playfair Display Black"/>
                                  </a:rPr>
                                  <m:t>𝑝</m:t>
                                </m:r>
                                <m:r>
                                  <a:rPr lang="en-US" sz="2000">
                                    <a:solidFill>
                                      <a:srgbClr val="0B1320"/>
                                    </a:solidFill>
                                    <a:latin typeface="Playfair Display Black"/>
                                  </a:rPr>
                                  <m:t>+</m:t>
                                </m:r>
                                <m:r>
                                  <a:rPr lang="en-US" sz="2000">
                                    <a:solidFill>
                                      <a:srgbClr val="0B1320"/>
                                    </a:solidFill>
                                    <a:latin typeface="Playfair Display Black"/>
                                  </a:rPr>
                                  <m:t>𝑞</m:t>
                                </m:r>
                                <m:r>
                                  <a:rPr lang="en-US" sz="2000">
                                    <a:solidFill>
                                      <a:srgbClr val="0B1320"/>
                                    </a:solidFill>
                                    <a:latin typeface="Playfair Display Black"/>
                                  </a:rPr>
                                  <m:t>−</m:t>
                                </m:r>
                                <m:r>
                                  <a:rPr lang="en-US" sz="2000">
                                    <a:solidFill>
                                      <a:srgbClr val="0B1320"/>
                                    </a:solidFill>
                                    <a:latin typeface="Playfair Display Black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sz="2000">
                                <a:solidFill>
                                  <a:srgbClr val="0B1320"/>
                                </a:solidFill>
                                <a:latin typeface="Playfair Display Black"/>
                              </a:rPr>
                              <m:t>!</m:t>
                            </m:r>
                            <m:r>
                              <a:rPr lang="en-US" sz="2000">
                                <a:solidFill>
                                  <a:srgbClr val="0B1320"/>
                                </a:solidFill>
                                <a:latin typeface="Playfair Display Black"/>
                              </a:rPr>
                              <m:t>𝑞</m:t>
                            </m:r>
                            <m:r>
                              <a:rPr lang="en-US" sz="2000">
                                <a:solidFill>
                                  <a:srgbClr val="0B1320"/>
                                </a:solidFill>
                                <a:latin typeface="Playfair Display Black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sz="2000">
                                    <a:solidFill>
                                      <a:srgbClr val="0B1320"/>
                                    </a:solidFill>
                                    <a:latin typeface="Playfair Display Black"/>
                                  </a:rPr>
                                </m:ctrlPr>
                              </m:dPr>
                              <m:e>
                                <m:r>
                                  <a:rPr lang="en-US" sz="2000">
                                    <a:solidFill>
                                      <a:srgbClr val="0B1320"/>
                                    </a:solidFill>
                                    <a:latin typeface="Playfair Display Black"/>
                                  </a:rPr>
                                  <m:t>𝑝</m:t>
                                </m:r>
                                <m:r>
                                  <a:rPr lang="en-US" sz="2000">
                                    <a:solidFill>
                                      <a:srgbClr val="0B1320"/>
                                    </a:solidFill>
                                    <a:latin typeface="Playfair Display Black"/>
                                  </a:rPr>
                                  <m:t>+</m:t>
                                </m:r>
                                <m:r>
                                  <a:rPr lang="en-US" sz="2000">
                                    <a:solidFill>
                                      <a:srgbClr val="0B1320"/>
                                    </a:solidFill>
                                    <a:latin typeface="Playfair Display Black"/>
                                  </a:rPr>
                                  <m:t>𝑞</m:t>
                                </m:r>
                              </m:e>
                            </m:d>
                            <m:r>
                              <a:rPr lang="en-US" sz="2000">
                                <a:solidFill>
                                  <a:srgbClr val="0B1320"/>
                                </a:solidFill>
                                <a:latin typeface="Playfair Display Black"/>
                              </a:rPr>
                              <m:t>!</m:t>
                            </m:r>
                            <m:r>
                              <a:rPr lang="en-US" sz="2000">
                                <a:solidFill>
                                  <a:srgbClr val="0B1320"/>
                                </a:solidFill>
                                <a:latin typeface="Playfair Display Black"/>
                              </a:rPr>
                              <m:t>𝑗</m:t>
                            </m:r>
                            <m:r>
                              <a:rPr lang="en-US" sz="2000">
                                <a:solidFill>
                                  <a:srgbClr val="0B1320"/>
                                </a:solidFill>
                                <a:latin typeface="Playfair Display Black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sz="2000">
                                    <a:solidFill>
                                      <a:srgbClr val="0B1320"/>
                                    </a:solidFill>
                                    <a:latin typeface="Playfair Display Black"/>
                                  </a:rPr>
                                </m:ctrlPr>
                              </m:dPr>
                              <m:e>
                                <m:r>
                                  <a:rPr lang="en-US" sz="2000">
                                    <a:solidFill>
                                      <a:srgbClr val="0B1320"/>
                                    </a:solidFill>
                                    <a:latin typeface="Playfair Display Black"/>
                                  </a:rPr>
                                  <m:t>𝑞</m:t>
                                </m:r>
                                <m:r>
                                  <a:rPr lang="en-US" sz="2000">
                                    <a:solidFill>
                                      <a:srgbClr val="0B1320"/>
                                    </a:solidFill>
                                    <a:latin typeface="Playfair Display Black"/>
                                  </a:rPr>
                                  <m:t>−</m:t>
                                </m:r>
                                <m:r>
                                  <a:rPr lang="en-US" sz="2000">
                                    <a:solidFill>
                                      <a:srgbClr val="0B1320"/>
                                    </a:solidFill>
                                    <a:latin typeface="Playfair Display Black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sz="2000">
                                <a:solidFill>
                                  <a:srgbClr val="0B1320"/>
                                </a:solidFill>
                                <a:latin typeface="Playfair Display Black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lang="en-US" sz="2000">
                                <a:solidFill>
                                  <a:srgbClr val="0B1320"/>
                                </a:solidFill>
                                <a:latin typeface="Playfair Display Black"/>
                              </a:rPr>
                            </m:ctrlPr>
                          </m:sSupPr>
                          <m:e>
                            <m:r>
                              <a:rPr lang="en-US" sz="2000">
                                <a:solidFill>
                                  <a:srgbClr val="0B1320"/>
                                </a:solidFill>
                                <a:latin typeface="Playfair Display Black"/>
                              </a:rPr>
                              <m:t>(−</m:t>
                            </m:r>
                            <m:r>
                              <a:rPr lang="en-US" sz="2000">
                                <a:solidFill>
                                  <a:srgbClr val="0B1320"/>
                                </a:solidFill>
                                <a:latin typeface="Playfair Display Black"/>
                              </a:rPr>
                              <m:t>𝐴</m:t>
                            </m:r>
                          </m:e>
                          <m:sup>
                            <m:r>
                              <a:rPr lang="en-US" sz="2000">
                                <a:solidFill>
                                  <a:srgbClr val="0B1320"/>
                                </a:solidFill>
                                <a:latin typeface="Playfair Display Black"/>
                              </a:rPr>
                              <m:t>𝑗</m:t>
                            </m:r>
                          </m:sup>
                        </m:sSup>
                        <m:r>
                          <a:rPr lang="en-US" sz="2000">
                            <a:solidFill>
                              <a:srgbClr val="0B1320"/>
                            </a:solidFill>
                            <a:latin typeface="Playfair Display Black"/>
                          </a:rPr>
                          <m:t>)</m:t>
                        </m:r>
                      </m:e>
                    </m:nary>
                  </m:oMath>
                </a14:m>
                <a:endParaRPr sz="2000" dirty="0">
                  <a:solidFill>
                    <a:srgbClr val="0B1320"/>
                  </a:solidFill>
                  <a:latin typeface="Playfair Display Black"/>
                </a:endParaRPr>
              </a:p>
            </p:txBody>
          </p:sp>
        </mc:Choice>
        <mc:Fallback>
          <p:sp>
            <p:nvSpPr>
              <p:cNvPr id="3" name="Google Shape;126;p14">
                <a:extLst>
                  <a:ext uri="{FF2B5EF4-FFF2-40B4-BE49-F238E27FC236}">
                    <a16:creationId xmlns:a16="http://schemas.microsoft.com/office/drawing/2014/main" id="{17CF2F71-DBAF-4FCB-3E35-FCB4CA7CA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248" y="4400261"/>
                <a:ext cx="9801323" cy="3254930"/>
              </a:xfrm>
              <a:prstGeom prst="rect">
                <a:avLst/>
              </a:prstGeom>
              <a:blipFill>
                <a:blip r:embed="rId3"/>
                <a:stretch>
                  <a:fillRect l="-15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9"/>
          <p:cNvSpPr txBox="1"/>
          <p:nvPr/>
        </p:nvSpPr>
        <p:spPr>
          <a:xfrm>
            <a:off x="1276234" y="584525"/>
            <a:ext cx="9207541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The Algorithm 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תיבת טקסט 4">
                <a:extLst>
                  <a:ext uri="{FF2B5EF4-FFF2-40B4-BE49-F238E27FC236}">
                    <a16:creationId xmlns:a16="http://schemas.microsoft.com/office/drawing/2014/main" id="{07BE9DE6-D993-4C2C-02AF-BFC2B98F3A77}"/>
                  </a:ext>
                </a:extLst>
              </p:cNvPr>
              <p:cNvSpPr txBox="1"/>
              <p:nvPr/>
            </p:nvSpPr>
            <p:spPr>
              <a:xfrm>
                <a:off x="1276234" y="2900936"/>
                <a:ext cx="11371006" cy="50091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10"/>
                  </a:lnSpc>
                </a:pPr>
                <a:r>
                  <a:rPr lang="en-US" sz="2400" b="1" u="sng" dirty="0">
                    <a:solidFill>
                      <a:srgbClr val="0B1320"/>
                    </a:solidFill>
                    <a:latin typeface="Playfair Display Black"/>
                  </a:rPr>
                  <a:t>Short Steps for Computing Matrix Exponential using </a:t>
                </a:r>
                <a:r>
                  <a:rPr lang="en-US" sz="2400" b="1" u="sng" dirty="0" err="1">
                    <a:solidFill>
                      <a:srgbClr val="0B1320"/>
                    </a:solidFill>
                    <a:latin typeface="Playfair Display Black"/>
                  </a:rPr>
                  <a:t>Padé</a:t>
                </a:r>
                <a:r>
                  <a:rPr lang="en-US" sz="2400" b="1" u="sng" dirty="0">
                    <a:solidFill>
                      <a:srgbClr val="0B1320"/>
                    </a:solidFill>
                    <a:latin typeface="Playfair Display Black"/>
                  </a:rPr>
                  <a:t> Approximation:</a:t>
                </a:r>
              </a:p>
              <a:p>
                <a:pPr>
                  <a:lnSpc>
                    <a:spcPct val="130010"/>
                  </a:lnSpc>
                </a:pPr>
                <a:endParaRPr lang="en-US" sz="2400" b="1" u="sng" dirty="0">
                  <a:solidFill>
                    <a:srgbClr val="0B1320"/>
                  </a:solidFill>
                  <a:latin typeface="Playfair Display Black"/>
                </a:endParaRPr>
              </a:p>
              <a:p>
                <a:pPr marL="342900" indent="-342900">
                  <a:lnSpc>
                    <a:spcPct val="130010"/>
                  </a:lnSpc>
                  <a:buFont typeface="Arial" panose="020B0604020202020204" pitchFamily="34" charset="0"/>
                  <a:buChar char="•"/>
                </a:pPr>
                <a:r>
                  <a:rPr lang="en-US" sz="2400" u="sng" dirty="0">
                    <a:solidFill>
                      <a:srgbClr val="0B1320"/>
                    </a:solidFill>
                    <a:latin typeface="Playfair Display Black"/>
                  </a:rPr>
                  <a:t>Scaling: </a:t>
                </a:r>
                <a:r>
                  <a:rPr lang="en-US" sz="2400" dirty="0">
                    <a:solidFill>
                      <a:srgbClr val="0B1320"/>
                    </a:solidFill>
                    <a:latin typeface="Playfair Display Black"/>
                  </a:rPr>
                  <a:t>If ||A||₁ ≥ 0.5, scale A by dividing it by a suitable integer m such that ||A||₁/m &lt; 0.5.</a:t>
                </a:r>
              </a:p>
              <a:p>
                <a:pPr marL="342900" indent="-342900">
                  <a:lnSpc>
                    <a:spcPct val="130010"/>
                  </a:lnSpc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rgbClr val="0B1320"/>
                  </a:solidFill>
                  <a:latin typeface="Playfair Display Black"/>
                </a:endParaRPr>
              </a:p>
              <a:p>
                <a:pPr marL="342900" indent="-342900">
                  <a:lnSpc>
                    <a:spcPct val="130010"/>
                  </a:lnSpc>
                  <a:buFont typeface="Arial" panose="020B0604020202020204" pitchFamily="34" charset="0"/>
                  <a:buChar char="•"/>
                </a:pPr>
                <a:r>
                  <a:rPr lang="en-US" sz="2400" u="sng" dirty="0" err="1">
                    <a:solidFill>
                      <a:srgbClr val="0B1320"/>
                    </a:solidFill>
                    <a:latin typeface="Playfair Display Black"/>
                  </a:rPr>
                  <a:t>Padé</a:t>
                </a:r>
                <a:r>
                  <a:rPr lang="en-US" sz="2400" u="sng" dirty="0">
                    <a:solidFill>
                      <a:srgbClr val="0B1320"/>
                    </a:solidFill>
                    <a:latin typeface="Playfair Display Black"/>
                  </a:rPr>
                  <a:t> Approximation: </a:t>
                </a:r>
                <a:r>
                  <a:rPr lang="en-US" sz="2400" dirty="0">
                    <a:solidFill>
                      <a:srgbClr val="0B1320"/>
                    </a:solidFill>
                    <a:latin typeface="Playfair Display Black"/>
                  </a:rPr>
                  <a:t>Compute the </a:t>
                </a:r>
                <a:r>
                  <a:rPr lang="en-US" sz="2400" dirty="0" err="1">
                    <a:solidFill>
                      <a:srgbClr val="0B1320"/>
                    </a:solidFill>
                    <a:latin typeface="Playfair Display Black"/>
                  </a:rPr>
                  <a:t>Padé</a:t>
                </a:r>
                <a:r>
                  <a:rPr lang="en-US" sz="2400" dirty="0">
                    <a:solidFill>
                      <a:srgbClr val="0B1320"/>
                    </a:solidFill>
                    <a:latin typeface="Playfair Display Black"/>
                  </a:rPr>
                  <a:t> approximants N(A) and D(A).</a:t>
                </a:r>
              </a:p>
              <a:p>
                <a:pPr marL="342900" indent="-342900">
                  <a:lnSpc>
                    <a:spcPct val="130010"/>
                  </a:lnSpc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rgbClr val="0B1320"/>
                  </a:solidFill>
                  <a:latin typeface="Playfair Display Black"/>
                </a:endParaRPr>
              </a:p>
              <a:p>
                <a:pPr marL="342900" indent="-342900">
                  <a:lnSpc>
                    <a:spcPct val="130010"/>
                  </a:lnSpc>
                  <a:buFont typeface="Arial" panose="020B0604020202020204" pitchFamily="34" charset="0"/>
                  <a:buChar char="•"/>
                </a:pPr>
                <a:r>
                  <a:rPr lang="en-US" sz="2400" u="sng" dirty="0">
                    <a:solidFill>
                      <a:srgbClr val="0B1320"/>
                    </a:solidFill>
                    <a:latin typeface="Playfair Display Black"/>
                  </a:rPr>
                  <a:t>Solve System: </a:t>
                </a:r>
                <a:r>
                  <a:rPr lang="en-US" sz="2400" dirty="0">
                    <a:solidFill>
                      <a:srgbClr val="0B1320"/>
                    </a:solidFill>
                    <a:latin typeface="Playfair Display Black"/>
                  </a:rPr>
                  <a:t>Solve the linear system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sz="2400">
                        <a:solidFill>
                          <a:srgbClr val="0B132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solidFill>
                                  <a:srgbClr val="0B132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B132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>
                                    <a:solidFill>
                                      <a:srgbClr val="0B132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2400">
                                    <a:solidFill>
                                      <a:srgbClr val="0B1320"/>
                                    </a:solidFill>
                                    <a:latin typeface="Cambria Math" panose="02040503050406030204" pitchFamily="18" charset="0"/>
                                  </a:rPr>
                                  <m:t>𝑝𝑞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0B132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>
                                    <a:solidFill>
                                      <a:srgbClr val="0B132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>
                        <a:solidFill>
                          <a:srgbClr val="0B132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</a:rPr>
                          <m:t>𝑝𝑞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400" b="0" i="1" smtClean="0">
                        <a:solidFill>
                          <a:srgbClr val="0B132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b="0" dirty="0">
                  <a:solidFill>
                    <a:srgbClr val="0B1320"/>
                  </a:solidFill>
                  <a:latin typeface="Playfair Display Black"/>
                </a:endParaRPr>
              </a:p>
              <a:p>
                <a:pPr marL="342900" indent="-342900">
                  <a:lnSpc>
                    <a:spcPct val="130010"/>
                  </a:lnSpc>
                  <a:buFont typeface="Arial" panose="020B0604020202020204" pitchFamily="34" charset="0"/>
                  <a:buChar char="•"/>
                </a:pPr>
                <a:endParaRPr lang="en-US" sz="2400" b="0" dirty="0">
                  <a:solidFill>
                    <a:srgbClr val="0B1320"/>
                  </a:solidFill>
                  <a:latin typeface="Playfair Display Black"/>
                </a:endParaRPr>
              </a:p>
              <a:p>
                <a:pPr marL="342900" indent="-342900">
                  <a:lnSpc>
                    <a:spcPct val="130010"/>
                  </a:lnSpc>
                  <a:buFont typeface="Arial" panose="020B0604020202020204" pitchFamily="34" charset="0"/>
                  <a:buChar char="•"/>
                </a:pPr>
                <a:r>
                  <a:rPr lang="en-US" sz="2400" u="sng" dirty="0">
                    <a:solidFill>
                      <a:srgbClr val="0B1320"/>
                    </a:solidFill>
                    <a:latin typeface="Playfair Display Black"/>
                  </a:rPr>
                  <a:t>Rescaling:</a:t>
                </a:r>
                <a:r>
                  <a:rPr lang="en-US" sz="2400" dirty="0">
                    <a:solidFill>
                      <a:srgbClr val="0B1320"/>
                    </a:solidFill>
                    <a:latin typeface="Playfair Display Black"/>
                  </a:rPr>
                  <a:t> If A was scaled in step 1,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smtClean="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sz="2400" b="0" i="1" smtClean="0">
                        <a:solidFill>
                          <a:srgbClr val="0B132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rgbClr val="0B132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0B132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0" i="1" smtClean="0">
                                <a:solidFill>
                                  <a:srgbClr val="0B132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0B132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0B132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en-US" sz="2400" dirty="0">
                  <a:solidFill>
                    <a:srgbClr val="0B1320"/>
                  </a:solidFill>
                  <a:latin typeface="Playfair Display Black"/>
                </a:endParaRPr>
              </a:p>
            </p:txBody>
          </p:sp>
        </mc:Choice>
        <mc:Fallback>
          <p:sp>
            <p:nvSpPr>
              <p:cNvPr id="5" name="תיבת טקסט 4">
                <a:extLst>
                  <a:ext uri="{FF2B5EF4-FFF2-40B4-BE49-F238E27FC236}">
                    <a16:creationId xmlns:a16="http://schemas.microsoft.com/office/drawing/2014/main" id="{07BE9DE6-D993-4C2C-02AF-BFC2B98F3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234" y="2900936"/>
                <a:ext cx="11371006" cy="5009192"/>
              </a:xfrm>
              <a:prstGeom prst="rect">
                <a:avLst/>
              </a:prstGeom>
              <a:blipFill>
                <a:blip r:embed="rId3"/>
                <a:stretch>
                  <a:fillRect l="-804" r="-107" b="-194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תמונה 7">
            <a:extLst>
              <a:ext uri="{FF2B5EF4-FFF2-40B4-BE49-F238E27FC236}">
                <a16:creationId xmlns:a16="http://schemas.microsoft.com/office/drawing/2014/main" id="{1A86EAF2-4C24-7B2F-FCE1-B70962F29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4586" y="5849999"/>
            <a:ext cx="5493413" cy="3431161"/>
          </a:xfrm>
          <a:prstGeom prst="rect">
            <a:avLst/>
          </a:prstGeom>
        </p:spPr>
      </p:pic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DEBDF488-3F2B-54DF-16EB-F20D723A5E0C}"/>
              </a:ext>
            </a:extLst>
          </p:cNvPr>
          <p:cNvSpPr txBox="1"/>
          <p:nvPr/>
        </p:nvSpPr>
        <p:spPr>
          <a:xfrm>
            <a:off x="13822679" y="9311640"/>
            <a:ext cx="4465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800" dirty="0"/>
              <a:t>https://www.business-standard.com/article/technology/what-is-an-algorithm-how-the-computers-know-what-to-do-with-data-120101700251_1.html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4"/>
          <p:cNvSpPr txBox="1"/>
          <p:nvPr/>
        </p:nvSpPr>
        <p:spPr>
          <a:xfrm>
            <a:off x="464527" y="-54638"/>
            <a:ext cx="14566734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sz="9000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Handling the Linear Solver</a:t>
            </a:r>
            <a:endParaRPr dirty="0"/>
          </a:p>
        </p:txBody>
      </p:sp>
      <p:grpSp>
        <p:nvGrpSpPr>
          <p:cNvPr id="493" name="Google Shape;493;p24"/>
          <p:cNvGrpSpPr/>
          <p:nvPr/>
        </p:nvGrpSpPr>
        <p:grpSpPr>
          <a:xfrm>
            <a:off x="16109637" y="670137"/>
            <a:ext cx="406823" cy="408647"/>
            <a:chOff x="1813" y="0"/>
            <a:chExt cx="809173" cy="812800"/>
          </a:xfrm>
        </p:grpSpPr>
        <p:sp>
          <p:nvSpPr>
            <p:cNvPr id="494" name="Google Shape;494;p2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6" name="Google Shape;496;p24"/>
          <p:cNvGrpSpPr/>
          <p:nvPr/>
        </p:nvGrpSpPr>
        <p:grpSpPr>
          <a:xfrm>
            <a:off x="16673311" y="670137"/>
            <a:ext cx="406823" cy="408647"/>
            <a:chOff x="1813" y="0"/>
            <a:chExt cx="809173" cy="812800"/>
          </a:xfrm>
        </p:grpSpPr>
        <p:sp>
          <p:nvSpPr>
            <p:cNvPr id="497" name="Google Shape;497;p2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9" name="Google Shape;499;p24"/>
          <p:cNvGrpSpPr/>
          <p:nvPr/>
        </p:nvGrpSpPr>
        <p:grpSpPr>
          <a:xfrm>
            <a:off x="17234359" y="670137"/>
            <a:ext cx="406823" cy="408647"/>
            <a:chOff x="1813" y="0"/>
            <a:chExt cx="809173" cy="812800"/>
          </a:xfrm>
        </p:grpSpPr>
        <p:sp>
          <p:nvSpPr>
            <p:cNvPr id="500" name="Google Shape;500;p2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70A7E593-206D-00FB-B5F2-3CF51A84A0FB}"/>
              </a:ext>
            </a:extLst>
          </p:cNvPr>
          <p:cNvSpPr txBox="1"/>
          <p:nvPr/>
        </p:nvSpPr>
        <p:spPr>
          <a:xfrm>
            <a:off x="924186" y="1037218"/>
            <a:ext cx="13312135" cy="916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10"/>
              </a:lnSpc>
            </a:pPr>
            <a:endParaRPr lang="en-US" sz="2400" b="1" u="sng" dirty="0">
              <a:solidFill>
                <a:srgbClr val="0B1320"/>
              </a:solidFill>
              <a:latin typeface="Playfair Display Black"/>
            </a:endParaRPr>
          </a:p>
          <a:p>
            <a:pPr>
              <a:lnSpc>
                <a:spcPct val="130010"/>
              </a:lnSpc>
            </a:pPr>
            <a:r>
              <a:rPr lang="en-US" sz="2400" dirty="0">
                <a:solidFill>
                  <a:srgbClr val="0B1320"/>
                </a:solidFill>
                <a:latin typeface="Playfair Display Black"/>
              </a:rPr>
              <a:t>The core step in the </a:t>
            </a:r>
            <a:r>
              <a:rPr lang="en-US" sz="2400" dirty="0" err="1">
                <a:solidFill>
                  <a:srgbClr val="0B1320"/>
                </a:solidFill>
                <a:latin typeface="Playfair Display Black"/>
              </a:rPr>
              <a:t>Padé</a:t>
            </a:r>
            <a:r>
              <a:rPr lang="en-US" sz="2400" dirty="0">
                <a:solidFill>
                  <a:srgbClr val="0B1320"/>
                </a:solidFill>
                <a:latin typeface="Playfair Display Black"/>
              </a:rPr>
              <a:t> approximation method involves solving the linear system.</a:t>
            </a:r>
          </a:p>
          <a:p>
            <a:pPr>
              <a:lnSpc>
                <a:spcPct val="130010"/>
              </a:lnSpc>
            </a:pPr>
            <a:r>
              <a:rPr lang="en-US" sz="2400" dirty="0">
                <a:solidFill>
                  <a:srgbClr val="0B1320"/>
                </a:solidFill>
                <a:latin typeface="Playfair Display Black"/>
              </a:rPr>
              <a:t>This system needs to be solved efficiently and accurately for the method to be successful.</a:t>
            </a:r>
          </a:p>
          <a:p>
            <a:pPr>
              <a:lnSpc>
                <a:spcPct val="130010"/>
              </a:lnSpc>
            </a:pPr>
            <a:endParaRPr lang="en-US" sz="2400" dirty="0">
              <a:solidFill>
                <a:srgbClr val="0B1320"/>
              </a:solidFill>
              <a:latin typeface="Playfair Display Black"/>
            </a:endParaRPr>
          </a:p>
          <a:p>
            <a:pPr>
              <a:lnSpc>
                <a:spcPct val="130010"/>
              </a:lnSpc>
            </a:pPr>
            <a:r>
              <a:rPr lang="en-US" sz="2400" u="sng" dirty="0">
                <a:solidFill>
                  <a:srgbClr val="0B1320"/>
                </a:solidFill>
                <a:latin typeface="Playfair Display Black"/>
              </a:rPr>
              <a:t>Therefore, we use : Gaussian Elimination(</a:t>
            </a:r>
            <a:r>
              <a:rPr lang="en-US" sz="2400" u="sng" dirty="0" err="1">
                <a:solidFill>
                  <a:srgbClr val="0B1320"/>
                </a:solidFill>
                <a:latin typeface="Playfair Display Black"/>
              </a:rPr>
              <a:t>Pyhton</a:t>
            </a:r>
            <a:r>
              <a:rPr lang="en-US" sz="2400" u="sng" dirty="0">
                <a:solidFill>
                  <a:srgbClr val="0B1320"/>
                </a:solidFill>
                <a:latin typeface="Playfair Display Black"/>
              </a:rPr>
              <a:t>) , LU Decomposition (Haskell)</a:t>
            </a:r>
          </a:p>
          <a:p>
            <a:pPr marL="342900" indent="-342900">
              <a:lnSpc>
                <a:spcPct val="130010"/>
              </a:lnSpc>
              <a:buFont typeface="Arial" panose="020B0604020202020204" pitchFamily="34" charset="0"/>
              <a:buChar char="•"/>
            </a:pPr>
            <a:r>
              <a:rPr lang="en-US" sz="2400" u="sng" dirty="0">
                <a:solidFill>
                  <a:srgbClr val="0B1320"/>
                </a:solidFill>
                <a:latin typeface="Playfair Display Black"/>
              </a:rPr>
              <a:t>Gaussian Elimination:</a:t>
            </a:r>
          </a:p>
          <a:p>
            <a:pPr>
              <a:lnSpc>
                <a:spcPct val="130010"/>
              </a:lnSpc>
            </a:pPr>
            <a:r>
              <a:rPr lang="en-US" sz="2000" u="sng" dirty="0">
                <a:solidFill>
                  <a:srgbClr val="0B1320"/>
                </a:solidFill>
                <a:latin typeface="Playfair Display Black"/>
              </a:rPr>
              <a:t>Method:</a:t>
            </a:r>
          </a:p>
          <a:p>
            <a:pPr marL="342900" indent="-342900">
              <a:lnSpc>
                <a:spcPct val="13001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B1320"/>
                </a:solidFill>
                <a:latin typeface="Playfair Display Black"/>
              </a:rPr>
              <a:t>Solves a system of linear equations by transforming the matrix to row echelon form (or reduced row echelon form).</a:t>
            </a:r>
          </a:p>
          <a:p>
            <a:pPr>
              <a:lnSpc>
                <a:spcPct val="130010"/>
              </a:lnSpc>
            </a:pPr>
            <a:r>
              <a:rPr lang="en-US" sz="2000" u="sng" dirty="0">
                <a:solidFill>
                  <a:srgbClr val="0B1320"/>
                </a:solidFill>
                <a:latin typeface="Playfair Display Black"/>
              </a:rPr>
              <a:t>Steps: </a:t>
            </a:r>
          </a:p>
          <a:p>
            <a:pPr marL="342900" indent="-342900">
              <a:lnSpc>
                <a:spcPct val="13001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B1320"/>
                </a:solidFill>
                <a:latin typeface="Playfair Display Black"/>
              </a:rPr>
              <a:t>Use row operations (swap, scale, add/subtract) to eliminate variables in successive rows. </a:t>
            </a:r>
          </a:p>
          <a:p>
            <a:pPr marL="342900" indent="-342900">
              <a:lnSpc>
                <a:spcPct val="13001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B1320"/>
                </a:solidFill>
                <a:latin typeface="Playfair Display Black"/>
              </a:rPr>
              <a:t>Once in upper triangular form, perform back substitution to find the solution.</a:t>
            </a:r>
          </a:p>
          <a:p>
            <a:pPr marL="342900" indent="-342900">
              <a:lnSpc>
                <a:spcPct val="13001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B1320"/>
              </a:solidFill>
              <a:latin typeface="Playfair Display Black"/>
            </a:endParaRPr>
          </a:p>
          <a:p>
            <a:pPr marL="342900" indent="-342900">
              <a:lnSpc>
                <a:spcPct val="130010"/>
              </a:lnSpc>
              <a:buFont typeface="Arial" panose="020B0604020202020204" pitchFamily="34" charset="0"/>
              <a:buChar char="•"/>
            </a:pPr>
            <a:r>
              <a:rPr lang="en-US" sz="2400" u="sng" dirty="0">
                <a:solidFill>
                  <a:srgbClr val="0B1320"/>
                </a:solidFill>
                <a:latin typeface="Playfair Display Black"/>
              </a:rPr>
              <a:t>LU Decomposition: </a:t>
            </a:r>
          </a:p>
          <a:p>
            <a:pPr>
              <a:lnSpc>
                <a:spcPct val="130010"/>
              </a:lnSpc>
            </a:pPr>
            <a:r>
              <a:rPr lang="en-US" sz="2000" u="sng" dirty="0">
                <a:solidFill>
                  <a:srgbClr val="0B1320"/>
                </a:solidFill>
                <a:latin typeface="Playfair Display Black"/>
              </a:rPr>
              <a:t>Method:</a:t>
            </a:r>
          </a:p>
          <a:p>
            <a:pPr marL="342900" indent="-342900">
              <a:lnSpc>
                <a:spcPct val="13001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B1320"/>
                </a:solidFill>
                <a:latin typeface="Playfair Display Black"/>
              </a:rPr>
              <a:t>Decomposes a matrix A into a product of a lower triangular matrix L and an upper triangular matrix U, i.e., A=LU.</a:t>
            </a:r>
          </a:p>
          <a:p>
            <a:pPr>
              <a:lnSpc>
                <a:spcPct val="130010"/>
              </a:lnSpc>
            </a:pPr>
            <a:r>
              <a:rPr lang="en-US" sz="2000" u="sng" dirty="0">
                <a:solidFill>
                  <a:srgbClr val="0B1320"/>
                </a:solidFill>
                <a:latin typeface="Playfair Display Black"/>
              </a:rPr>
              <a:t>Steps:</a:t>
            </a:r>
          </a:p>
          <a:p>
            <a:pPr marL="342900" indent="-342900">
              <a:lnSpc>
                <a:spcPct val="13001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B1320"/>
                </a:solidFill>
                <a:latin typeface="Playfair Display Black"/>
              </a:rPr>
              <a:t>Obtain the matrices L and U, where L contains the multipliers and U is upper triangular.</a:t>
            </a:r>
          </a:p>
          <a:p>
            <a:pPr marL="342900" indent="-342900">
              <a:lnSpc>
                <a:spcPct val="13001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B1320"/>
                </a:solidFill>
                <a:latin typeface="Playfair Display Black"/>
              </a:rPr>
              <a:t>Use L and U to solve systems of equations more efficiently, by first solving Ly=b, then </a:t>
            </a:r>
            <a:r>
              <a:rPr lang="en-US" sz="2000" dirty="0" err="1">
                <a:solidFill>
                  <a:srgbClr val="0B1320"/>
                </a:solidFill>
                <a:latin typeface="Playfair Display Black"/>
              </a:rPr>
              <a:t>Ux</a:t>
            </a:r>
            <a:r>
              <a:rPr lang="en-US" sz="2000" dirty="0">
                <a:solidFill>
                  <a:srgbClr val="0B1320"/>
                </a:solidFill>
                <a:latin typeface="Playfair Display Black"/>
              </a:rPr>
              <a:t>=y.</a:t>
            </a:r>
          </a:p>
          <a:p>
            <a:pPr marL="342900" indent="-342900">
              <a:lnSpc>
                <a:spcPct val="13001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B1320"/>
              </a:solidFill>
              <a:latin typeface="Playfair Display Black"/>
            </a:endParaRP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B6A81102-A5E2-D25D-11F6-ADD370AC0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0596" y="7584955"/>
            <a:ext cx="3318077" cy="1403217"/>
          </a:xfrm>
          <a:prstGeom prst="rect">
            <a:avLst/>
          </a:prstGeom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54E2419E-073D-9897-B8AF-6BF8BAF81108}"/>
              </a:ext>
            </a:extLst>
          </p:cNvPr>
          <p:cNvSpPr txBox="1"/>
          <p:nvPr/>
        </p:nvSpPr>
        <p:spPr>
          <a:xfrm>
            <a:off x="14195110" y="8988172"/>
            <a:ext cx="3829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/>
              <a:t>https://www.sharetechnote.com/html/Handbook_EngMath_Matrix_Decomposition_LU.html</a:t>
            </a:r>
          </a:p>
        </p:txBody>
      </p:sp>
      <p:pic>
        <p:nvPicPr>
          <p:cNvPr id="13" name="תמונה 12">
            <a:extLst>
              <a:ext uri="{FF2B5EF4-FFF2-40B4-BE49-F238E27FC236}">
                <a16:creationId xmlns:a16="http://schemas.microsoft.com/office/drawing/2014/main" id="{ADCE5B7C-A90A-5578-F595-29828EA137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90906" y="3262476"/>
            <a:ext cx="4287638" cy="2517701"/>
          </a:xfrm>
          <a:prstGeom prst="rect">
            <a:avLst/>
          </a:prstGeom>
        </p:spPr>
      </p:pic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2D60A866-2DAD-69AD-5D3F-C3B66A740D74}"/>
              </a:ext>
            </a:extLst>
          </p:cNvPr>
          <p:cNvSpPr txBox="1"/>
          <p:nvPr/>
        </p:nvSpPr>
        <p:spPr>
          <a:xfrm>
            <a:off x="14431680" y="5785500"/>
            <a:ext cx="30060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/>
              <a:t>https://www.youtube.com/watch?v=xCXRp2b8gNs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"/>
          <p:cNvSpPr txBox="1"/>
          <p:nvPr/>
        </p:nvSpPr>
        <p:spPr>
          <a:xfrm>
            <a:off x="933390" y="604836"/>
            <a:ext cx="16244079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Results - Haskell</a:t>
            </a:r>
            <a:endParaRPr sz="9000" dirty="0">
              <a:solidFill>
                <a:srgbClr val="0B1320"/>
              </a:solidFill>
              <a:latin typeface="Playfair Display Black"/>
              <a:ea typeface="Playfair Display Black"/>
              <a:cs typeface="Playfair Display Black"/>
            </a:endParaRPr>
          </a:p>
        </p:txBody>
      </p:sp>
      <p:grpSp>
        <p:nvGrpSpPr>
          <p:cNvPr id="221" name="Google Shape;221;p17"/>
          <p:cNvGrpSpPr/>
          <p:nvPr/>
        </p:nvGrpSpPr>
        <p:grpSpPr>
          <a:xfrm>
            <a:off x="716280" y="2880360"/>
            <a:ext cx="16461188" cy="6975027"/>
            <a:chOff x="0" y="-38100"/>
            <a:chExt cx="1322286" cy="1669185"/>
          </a:xfrm>
          <a:solidFill>
            <a:schemeClr val="bg1">
              <a:lumMod val="95000"/>
            </a:schemeClr>
          </a:solidFill>
        </p:grpSpPr>
        <p:sp>
          <p:nvSpPr>
            <p:cNvPr id="222" name="Google Shape;222;p17"/>
            <p:cNvSpPr/>
            <p:nvPr/>
          </p:nvSpPr>
          <p:spPr>
            <a:xfrm>
              <a:off x="0" y="0"/>
              <a:ext cx="1322286" cy="1631085"/>
            </a:xfrm>
            <a:custGeom>
              <a:avLst/>
              <a:gdLst/>
              <a:ahLst/>
              <a:cxnLst/>
              <a:rect l="l" t="t" r="r" b="b"/>
              <a:pathLst>
                <a:path w="1322286" h="1631085" extrusionOk="0">
                  <a:moveTo>
                    <a:pt x="74018" y="0"/>
                  </a:moveTo>
                  <a:lnTo>
                    <a:pt x="1248268" y="0"/>
                  </a:lnTo>
                  <a:cubicBezTo>
                    <a:pt x="1267899" y="0"/>
                    <a:pt x="1286726" y="7798"/>
                    <a:pt x="1300607" y="21679"/>
                  </a:cubicBezTo>
                  <a:cubicBezTo>
                    <a:pt x="1314488" y="35560"/>
                    <a:pt x="1322286" y="54387"/>
                    <a:pt x="1322286" y="74018"/>
                  </a:cubicBezTo>
                  <a:lnTo>
                    <a:pt x="1322286" y="1557067"/>
                  </a:lnTo>
                  <a:cubicBezTo>
                    <a:pt x="1322286" y="1576698"/>
                    <a:pt x="1314488" y="1595524"/>
                    <a:pt x="1300607" y="1609406"/>
                  </a:cubicBezTo>
                  <a:cubicBezTo>
                    <a:pt x="1286726" y="1623287"/>
                    <a:pt x="1267899" y="1631085"/>
                    <a:pt x="1248268" y="1631085"/>
                  </a:cubicBezTo>
                  <a:lnTo>
                    <a:pt x="74018" y="1631085"/>
                  </a:lnTo>
                  <a:cubicBezTo>
                    <a:pt x="54387" y="1631085"/>
                    <a:pt x="35560" y="1623287"/>
                    <a:pt x="21679" y="1609406"/>
                  </a:cubicBezTo>
                  <a:cubicBezTo>
                    <a:pt x="7798" y="1595524"/>
                    <a:pt x="0" y="1576698"/>
                    <a:pt x="0" y="1557067"/>
                  </a:cubicBezTo>
                  <a:lnTo>
                    <a:pt x="0" y="74018"/>
                  </a:lnTo>
                  <a:cubicBezTo>
                    <a:pt x="0" y="54387"/>
                    <a:pt x="7798" y="35560"/>
                    <a:pt x="21679" y="21679"/>
                  </a:cubicBezTo>
                  <a:cubicBezTo>
                    <a:pt x="35560" y="7798"/>
                    <a:pt x="54387" y="0"/>
                    <a:pt x="74018" y="0"/>
                  </a:cubicBezTo>
                  <a:close/>
                </a:path>
              </a:pathLst>
            </a:custGeom>
            <a:grp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highlight>
                  <a:srgbClr val="C0C0C0"/>
                </a:highlight>
              </a:endParaRPr>
            </a:p>
          </p:txBody>
        </p:sp>
        <p:sp>
          <p:nvSpPr>
            <p:cNvPr id="223" name="Google Shape;223;p1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" name="תמונה 1">
            <a:extLst>
              <a:ext uri="{FF2B5EF4-FFF2-40B4-BE49-F238E27FC236}">
                <a16:creationId xmlns:a16="http://schemas.microsoft.com/office/drawing/2014/main" id="{D30998C6-0B55-98AF-997B-EC6EE3796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390" y="3322320"/>
            <a:ext cx="15955120" cy="6156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219">
          <a:extLst>
            <a:ext uri="{FF2B5EF4-FFF2-40B4-BE49-F238E27FC236}">
              <a16:creationId xmlns:a16="http://schemas.microsoft.com/office/drawing/2014/main" id="{21E96250-CE6F-8EEF-CB5B-FB5A4EF85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">
            <a:extLst>
              <a:ext uri="{FF2B5EF4-FFF2-40B4-BE49-F238E27FC236}">
                <a16:creationId xmlns:a16="http://schemas.microsoft.com/office/drawing/2014/main" id="{B97C55F9-3529-6E9F-8830-BC49EC278D70}"/>
              </a:ext>
            </a:extLst>
          </p:cNvPr>
          <p:cNvSpPr txBox="1"/>
          <p:nvPr/>
        </p:nvSpPr>
        <p:spPr>
          <a:xfrm>
            <a:off x="933390" y="604836"/>
            <a:ext cx="16244079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0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Results - Python</a:t>
            </a:r>
            <a:endParaRPr sz="9000" dirty="0">
              <a:solidFill>
                <a:srgbClr val="0B1320"/>
              </a:solidFill>
              <a:latin typeface="Playfair Display Black"/>
              <a:ea typeface="Playfair Display Black"/>
              <a:cs typeface="Playfair Display Black"/>
            </a:endParaRPr>
          </a:p>
        </p:txBody>
      </p:sp>
      <p:grpSp>
        <p:nvGrpSpPr>
          <p:cNvPr id="2" name="Google Shape;221;p17">
            <a:extLst>
              <a:ext uri="{FF2B5EF4-FFF2-40B4-BE49-F238E27FC236}">
                <a16:creationId xmlns:a16="http://schemas.microsoft.com/office/drawing/2014/main" id="{6ECF302F-CDE6-86DB-E1E8-B4B6E9BFE8FB}"/>
              </a:ext>
            </a:extLst>
          </p:cNvPr>
          <p:cNvGrpSpPr/>
          <p:nvPr/>
        </p:nvGrpSpPr>
        <p:grpSpPr>
          <a:xfrm>
            <a:off x="716280" y="2880360"/>
            <a:ext cx="16461188" cy="6975027"/>
            <a:chOff x="0" y="-38100"/>
            <a:chExt cx="1322286" cy="1669185"/>
          </a:xfrm>
          <a:solidFill>
            <a:schemeClr val="bg1">
              <a:lumMod val="95000"/>
            </a:schemeClr>
          </a:solidFill>
        </p:grpSpPr>
        <p:sp>
          <p:nvSpPr>
            <p:cNvPr id="3" name="Google Shape;222;p17">
              <a:extLst>
                <a:ext uri="{FF2B5EF4-FFF2-40B4-BE49-F238E27FC236}">
                  <a16:creationId xmlns:a16="http://schemas.microsoft.com/office/drawing/2014/main" id="{74168411-B4B1-1236-C53D-A7F5450A4A98}"/>
                </a:ext>
              </a:extLst>
            </p:cNvPr>
            <p:cNvSpPr/>
            <p:nvPr/>
          </p:nvSpPr>
          <p:spPr>
            <a:xfrm>
              <a:off x="0" y="0"/>
              <a:ext cx="1322286" cy="1631085"/>
            </a:xfrm>
            <a:custGeom>
              <a:avLst/>
              <a:gdLst/>
              <a:ahLst/>
              <a:cxnLst/>
              <a:rect l="l" t="t" r="r" b="b"/>
              <a:pathLst>
                <a:path w="1322286" h="1631085" extrusionOk="0">
                  <a:moveTo>
                    <a:pt x="74018" y="0"/>
                  </a:moveTo>
                  <a:lnTo>
                    <a:pt x="1248268" y="0"/>
                  </a:lnTo>
                  <a:cubicBezTo>
                    <a:pt x="1267899" y="0"/>
                    <a:pt x="1286726" y="7798"/>
                    <a:pt x="1300607" y="21679"/>
                  </a:cubicBezTo>
                  <a:cubicBezTo>
                    <a:pt x="1314488" y="35560"/>
                    <a:pt x="1322286" y="54387"/>
                    <a:pt x="1322286" y="74018"/>
                  </a:cubicBezTo>
                  <a:lnTo>
                    <a:pt x="1322286" y="1557067"/>
                  </a:lnTo>
                  <a:cubicBezTo>
                    <a:pt x="1322286" y="1576698"/>
                    <a:pt x="1314488" y="1595524"/>
                    <a:pt x="1300607" y="1609406"/>
                  </a:cubicBezTo>
                  <a:cubicBezTo>
                    <a:pt x="1286726" y="1623287"/>
                    <a:pt x="1267899" y="1631085"/>
                    <a:pt x="1248268" y="1631085"/>
                  </a:cubicBezTo>
                  <a:lnTo>
                    <a:pt x="74018" y="1631085"/>
                  </a:lnTo>
                  <a:cubicBezTo>
                    <a:pt x="54387" y="1631085"/>
                    <a:pt x="35560" y="1623287"/>
                    <a:pt x="21679" y="1609406"/>
                  </a:cubicBezTo>
                  <a:cubicBezTo>
                    <a:pt x="7798" y="1595524"/>
                    <a:pt x="0" y="1576698"/>
                    <a:pt x="0" y="1557067"/>
                  </a:cubicBezTo>
                  <a:lnTo>
                    <a:pt x="0" y="74018"/>
                  </a:lnTo>
                  <a:cubicBezTo>
                    <a:pt x="0" y="54387"/>
                    <a:pt x="7798" y="35560"/>
                    <a:pt x="21679" y="21679"/>
                  </a:cubicBezTo>
                  <a:cubicBezTo>
                    <a:pt x="35560" y="7798"/>
                    <a:pt x="54387" y="0"/>
                    <a:pt x="74018" y="0"/>
                  </a:cubicBezTo>
                  <a:close/>
                </a:path>
              </a:pathLst>
            </a:custGeom>
            <a:grp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highlight>
                  <a:srgbClr val="C0C0C0"/>
                </a:highlight>
              </a:endParaRPr>
            </a:p>
          </p:txBody>
        </p:sp>
        <p:sp>
          <p:nvSpPr>
            <p:cNvPr id="4" name="Google Shape;223;p17">
              <a:extLst>
                <a:ext uri="{FF2B5EF4-FFF2-40B4-BE49-F238E27FC236}">
                  <a16:creationId xmlns:a16="http://schemas.microsoft.com/office/drawing/2014/main" id="{96CD54B1-EBFB-F374-8838-A635D784F957}"/>
                </a:ext>
              </a:extLst>
            </p:cNvPr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" name="תמונה 7">
            <a:extLst>
              <a:ext uri="{FF2B5EF4-FFF2-40B4-BE49-F238E27FC236}">
                <a16:creationId xmlns:a16="http://schemas.microsoft.com/office/drawing/2014/main" id="{0938CBB3-976B-8559-13BA-94B0EF3F5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532" y="3330871"/>
            <a:ext cx="15699188" cy="612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96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7"/>
          <p:cNvSpPr txBox="1"/>
          <p:nvPr/>
        </p:nvSpPr>
        <p:spPr>
          <a:xfrm>
            <a:off x="1028700" y="457200"/>
            <a:ext cx="162306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>
                <a:solidFill>
                  <a:srgbClr val="0B1320"/>
                </a:solidFill>
                <a:latin typeface="Playfair Display Black"/>
                <a:sym typeface="Playfair Display Black"/>
              </a:rPr>
              <a:t>Advantages and Disadvantages </a:t>
            </a:r>
            <a:endParaRPr dirty="0"/>
          </a:p>
        </p:txBody>
      </p:sp>
      <p:sp>
        <p:nvSpPr>
          <p:cNvPr id="604" name="Google Shape;604;p27"/>
          <p:cNvSpPr txBox="1"/>
          <p:nvPr/>
        </p:nvSpPr>
        <p:spPr>
          <a:xfrm>
            <a:off x="1028700" y="2701297"/>
            <a:ext cx="3837223" cy="820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46" b="1" i="0" u="none" strike="noStrike" cap="none" dirty="0">
                <a:solidFill>
                  <a:srgbClr val="0B1320"/>
                </a:solidFill>
                <a:latin typeface="Arial"/>
                <a:ea typeface="Arial"/>
                <a:cs typeface="Arial"/>
                <a:sym typeface="Arial"/>
              </a:rPr>
              <a:t>Haskell:</a:t>
            </a:r>
          </a:p>
          <a:p>
            <a:pPr marL="0" marR="0" lvl="0" indent="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5" name="Google Shape;605;p27"/>
          <p:cNvSpPr txBox="1"/>
          <p:nvPr/>
        </p:nvSpPr>
        <p:spPr>
          <a:xfrm>
            <a:off x="2597481" y="4189481"/>
            <a:ext cx="6800628" cy="984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85" b="0" i="0" u="none" strike="noStrike" cap="none" dirty="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Parallelization</a:t>
            </a:r>
          </a:p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85" dirty="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Memory-efficient</a:t>
            </a:r>
            <a:endParaRPr lang="en-US" sz="2285" b="0" i="0" u="none" strike="noStrike" cap="none" dirty="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" name="Google Shape;606;p27"/>
          <p:cNvSpPr txBox="1"/>
          <p:nvPr/>
        </p:nvSpPr>
        <p:spPr>
          <a:xfrm>
            <a:off x="9144000" y="2701297"/>
            <a:ext cx="3837223" cy="562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46" b="1" dirty="0">
                <a:solidFill>
                  <a:srgbClr val="0B1320"/>
                </a:solidFill>
              </a:rPr>
              <a:t>Python:</a:t>
            </a:r>
            <a:endParaRPr b="1" dirty="0"/>
          </a:p>
        </p:txBody>
      </p:sp>
      <p:sp>
        <p:nvSpPr>
          <p:cNvPr id="4" name="Google Shape;604;p27">
            <a:extLst>
              <a:ext uri="{FF2B5EF4-FFF2-40B4-BE49-F238E27FC236}">
                <a16:creationId xmlns:a16="http://schemas.microsoft.com/office/drawing/2014/main" id="{59766498-871D-17EE-83BD-68D9917BC42A}"/>
              </a:ext>
            </a:extLst>
          </p:cNvPr>
          <p:cNvSpPr txBox="1"/>
          <p:nvPr/>
        </p:nvSpPr>
        <p:spPr>
          <a:xfrm>
            <a:off x="2597481" y="3446746"/>
            <a:ext cx="3837223" cy="820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46" b="1" i="0" u="sng" strike="noStrike" cap="none" dirty="0">
                <a:solidFill>
                  <a:srgbClr val="0B1320"/>
                </a:solidFill>
                <a:latin typeface="Arial"/>
                <a:ea typeface="Arial"/>
                <a:cs typeface="Arial"/>
                <a:sym typeface="Arial"/>
              </a:rPr>
              <a:t>Advantages:</a:t>
            </a:r>
          </a:p>
          <a:p>
            <a:pPr marL="0" marR="0" lvl="0" indent="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Google Shape;604;p27">
            <a:extLst>
              <a:ext uri="{FF2B5EF4-FFF2-40B4-BE49-F238E27FC236}">
                <a16:creationId xmlns:a16="http://schemas.microsoft.com/office/drawing/2014/main" id="{BEBD5A03-613C-903B-4301-288ED6983B7D}"/>
              </a:ext>
            </a:extLst>
          </p:cNvPr>
          <p:cNvSpPr txBox="1"/>
          <p:nvPr/>
        </p:nvSpPr>
        <p:spPr>
          <a:xfrm>
            <a:off x="2637964" y="5322797"/>
            <a:ext cx="3837223" cy="1383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46" b="1" u="sng" dirty="0">
                <a:solidFill>
                  <a:srgbClr val="0B1320"/>
                </a:solidFill>
              </a:rPr>
              <a:t>D</a:t>
            </a:r>
            <a:r>
              <a:rPr lang="en-US" sz="3046" b="1" i="0" u="sng" strike="noStrike" cap="none" dirty="0">
                <a:solidFill>
                  <a:srgbClr val="0B1320"/>
                </a:solidFill>
                <a:latin typeface="Arial"/>
                <a:ea typeface="Arial"/>
                <a:cs typeface="Arial"/>
                <a:sym typeface="Arial"/>
              </a:rPr>
              <a:t>isadvantages:</a:t>
            </a:r>
          </a:p>
          <a:p>
            <a:pPr marL="0" marR="0" lvl="0" indent="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046" b="1" i="0" u="sng" strike="noStrike" cap="none" dirty="0">
              <a:solidFill>
                <a:srgbClr val="0B132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Google Shape;605;p27">
            <a:extLst>
              <a:ext uri="{FF2B5EF4-FFF2-40B4-BE49-F238E27FC236}">
                <a16:creationId xmlns:a16="http://schemas.microsoft.com/office/drawing/2014/main" id="{50062997-8D86-BBAD-9B80-7A9A792670C4}"/>
              </a:ext>
            </a:extLst>
          </p:cNvPr>
          <p:cNvSpPr txBox="1"/>
          <p:nvPr/>
        </p:nvSpPr>
        <p:spPr>
          <a:xfrm>
            <a:off x="10709891" y="4162716"/>
            <a:ext cx="6800628" cy="1476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85" b="0" i="0" u="none" strike="noStrike" cap="none" dirty="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Customizability: Allows deep control over the mathematical steps</a:t>
            </a:r>
          </a:p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85" dirty="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Easy to debugging</a:t>
            </a:r>
            <a:endParaRPr lang="en-US" dirty="0"/>
          </a:p>
        </p:txBody>
      </p:sp>
      <p:sp>
        <p:nvSpPr>
          <p:cNvPr id="7" name="Google Shape;604;p27">
            <a:extLst>
              <a:ext uri="{FF2B5EF4-FFF2-40B4-BE49-F238E27FC236}">
                <a16:creationId xmlns:a16="http://schemas.microsoft.com/office/drawing/2014/main" id="{80E50A48-E841-E39E-6DC4-BD93E109F3DA}"/>
              </a:ext>
            </a:extLst>
          </p:cNvPr>
          <p:cNvSpPr txBox="1"/>
          <p:nvPr/>
        </p:nvSpPr>
        <p:spPr>
          <a:xfrm>
            <a:off x="10709891" y="3381881"/>
            <a:ext cx="3837223" cy="820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46" b="1" i="0" u="sng" strike="noStrike" cap="none" dirty="0">
                <a:solidFill>
                  <a:srgbClr val="0B1320"/>
                </a:solidFill>
                <a:latin typeface="Arial"/>
                <a:ea typeface="Arial"/>
                <a:cs typeface="Arial"/>
                <a:sym typeface="Arial"/>
              </a:rPr>
              <a:t>Advantages:</a:t>
            </a:r>
          </a:p>
          <a:p>
            <a:pPr marL="0" marR="0" lvl="0" indent="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" name="Google Shape;604;p27">
            <a:extLst>
              <a:ext uri="{FF2B5EF4-FFF2-40B4-BE49-F238E27FC236}">
                <a16:creationId xmlns:a16="http://schemas.microsoft.com/office/drawing/2014/main" id="{F2BB30D2-D118-EE8D-8279-947D5656CF1F}"/>
              </a:ext>
            </a:extLst>
          </p:cNvPr>
          <p:cNvSpPr txBox="1"/>
          <p:nvPr/>
        </p:nvSpPr>
        <p:spPr>
          <a:xfrm>
            <a:off x="10709891" y="5840623"/>
            <a:ext cx="3837223" cy="820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46" b="1" u="sng" dirty="0">
                <a:solidFill>
                  <a:srgbClr val="0B1320"/>
                </a:solidFill>
              </a:rPr>
              <a:t>D</a:t>
            </a:r>
            <a:r>
              <a:rPr lang="en-US" sz="3046" b="1" i="0" u="sng" strike="noStrike" cap="none" dirty="0">
                <a:solidFill>
                  <a:srgbClr val="0B1320"/>
                </a:solidFill>
                <a:latin typeface="Arial"/>
                <a:ea typeface="Arial"/>
                <a:cs typeface="Arial"/>
                <a:sym typeface="Arial"/>
              </a:rPr>
              <a:t>isadvantages:</a:t>
            </a:r>
          </a:p>
          <a:p>
            <a:pPr marL="0" marR="0" lvl="0" indent="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" name="Google Shape;605;p27">
            <a:extLst>
              <a:ext uri="{FF2B5EF4-FFF2-40B4-BE49-F238E27FC236}">
                <a16:creationId xmlns:a16="http://schemas.microsoft.com/office/drawing/2014/main" id="{42CB3B7A-0EDC-33D0-E4BA-5A7F0777306E}"/>
              </a:ext>
            </a:extLst>
          </p:cNvPr>
          <p:cNvSpPr txBox="1"/>
          <p:nvPr/>
        </p:nvSpPr>
        <p:spPr>
          <a:xfrm>
            <a:off x="2631790" y="5551090"/>
            <a:ext cx="6800628" cy="984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285" dirty="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85" b="0" i="0" u="none" strike="noStrike" cap="none" dirty="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Readability</a:t>
            </a: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DEA87A60-FDD3-70E8-3BA8-8AEEE7C24534}"/>
              </a:ext>
            </a:extLst>
          </p:cNvPr>
          <p:cNvSpPr txBox="1"/>
          <p:nvPr/>
        </p:nvSpPr>
        <p:spPr>
          <a:xfrm>
            <a:off x="10709891" y="6706253"/>
            <a:ext cx="6549409" cy="1027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85" dirty="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Limited parallelization support; not automatic for matrix operations.</a:t>
            </a:r>
          </a:p>
        </p:txBody>
      </p:sp>
      <p:graphicFrame>
        <p:nvGraphicFramePr>
          <p:cNvPr id="16" name="טבלה 15">
            <a:extLst>
              <a:ext uri="{FF2B5EF4-FFF2-40B4-BE49-F238E27FC236}">
                <a16:creationId xmlns:a16="http://schemas.microsoft.com/office/drawing/2014/main" id="{37A94754-B7F2-1CCC-F3D0-6D69DA747023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3710781"/>
          <a:ext cx="8229600" cy="304800"/>
        </p:xfrm>
        <a:graphic>
          <a:graphicData uri="http://schemas.openxmlformats.org/drawingml/2006/table">
            <a:tbl>
              <a:tblPr/>
              <a:tblGrid>
                <a:gridCol w="8229600">
                  <a:extLst>
                    <a:ext uri="{9D8B030D-6E8A-4147-A177-3AD203B41FA5}">
                      <a16:colId xmlns:a16="http://schemas.microsoft.com/office/drawing/2014/main" val="16925145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he-IL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55083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>
          <a:extLst>
            <a:ext uri="{FF2B5EF4-FFF2-40B4-BE49-F238E27FC236}">
              <a16:creationId xmlns:a16="http://schemas.microsoft.com/office/drawing/2014/main" id="{A4A2B2D4-06F0-6E86-F466-8EC7F407F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601;p27">
            <a:extLst>
              <a:ext uri="{FF2B5EF4-FFF2-40B4-BE49-F238E27FC236}">
                <a16:creationId xmlns:a16="http://schemas.microsoft.com/office/drawing/2014/main" id="{65CE9043-A52B-7D5F-8409-4BEA087C88AB}"/>
              </a:ext>
            </a:extLst>
          </p:cNvPr>
          <p:cNvGrpSpPr/>
          <p:nvPr/>
        </p:nvGrpSpPr>
        <p:grpSpPr>
          <a:xfrm>
            <a:off x="2030533" y="1450384"/>
            <a:ext cx="14226933" cy="6910101"/>
            <a:chOff x="0" y="-38100"/>
            <a:chExt cx="4068654" cy="1976168"/>
          </a:xfrm>
        </p:grpSpPr>
        <p:sp>
          <p:nvSpPr>
            <p:cNvPr id="6" name="Google Shape;602;p27">
              <a:extLst>
                <a:ext uri="{FF2B5EF4-FFF2-40B4-BE49-F238E27FC236}">
                  <a16:creationId xmlns:a16="http://schemas.microsoft.com/office/drawing/2014/main" id="{D795BFEA-6161-870F-E0F5-099ACF4C3288}"/>
                </a:ext>
              </a:extLst>
            </p:cNvPr>
            <p:cNvSpPr/>
            <p:nvPr/>
          </p:nvSpPr>
          <p:spPr>
            <a:xfrm>
              <a:off x="0" y="0"/>
              <a:ext cx="4068654" cy="1938068"/>
            </a:xfrm>
            <a:custGeom>
              <a:avLst/>
              <a:gdLst/>
              <a:ahLst/>
              <a:cxnLst/>
              <a:rect l="l" t="t" r="r" b="b"/>
              <a:pathLst>
                <a:path w="4068654" h="1938068" extrusionOk="0">
                  <a:moveTo>
                    <a:pt x="26120" y="0"/>
                  </a:moveTo>
                  <a:lnTo>
                    <a:pt x="4042533" y="0"/>
                  </a:lnTo>
                  <a:cubicBezTo>
                    <a:pt x="4056959" y="0"/>
                    <a:pt x="4068654" y="11694"/>
                    <a:pt x="4068654" y="26120"/>
                  </a:cubicBezTo>
                  <a:lnTo>
                    <a:pt x="4068654" y="1911948"/>
                  </a:lnTo>
                  <a:cubicBezTo>
                    <a:pt x="4068654" y="1926374"/>
                    <a:pt x="4056959" y="1938068"/>
                    <a:pt x="4042533" y="1938068"/>
                  </a:cubicBezTo>
                  <a:lnTo>
                    <a:pt x="26120" y="1938068"/>
                  </a:lnTo>
                  <a:cubicBezTo>
                    <a:pt x="11694" y="1938068"/>
                    <a:pt x="0" y="1926374"/>
                    <a:pt x="0" y="1911948"/>
                  </a:cubicBezTo>
                  <a:lnTo>
                    <a:pt x="0" y="26120"/>
                  </a:lnTo>
                  <a:cubicBezTo>
                    <a:pt x="0" y="11694"/>
                    <a:pt x="11694" y="0"/>
                    <a:pt x="2612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603;p27">
              <a:extLst>
                <a:ext uri="{FF2B5EF4-FFF2-40B4-BE49-F238E27FC236}">
                  <a16:creationId xmlns:a16="http://schemas.microsoft.com/office/drawing/2014/main" id="{A33D21BF-3447-4B1A-E1E4-38D495415AB1}"/>
                </a:ext>
              </a:extLst>
            </p:cNvPr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" name="Google Shape;600;p27">
            <a:extLst>
              <a:ext uri="{FF2B5EF4-FFF2-40B4-BE49-F238E27FC236}">
                <a16:creationId xmlns:a16="http://schemas.microsoft.com/office/drawing/2014/main" id="{7FFB91CB-F84A-F58E-A4C5-EAF928695079}"/>
              </a:ext>
            </a:extLst>
          </p:cNvPr>
          <p:cNvSpPr txBox="1"/>
          <p:nvPr/>
        </p:nvSpPr>
        <p:spPr>
          <a:xfrm>
            <a:off x="1028699" y="4279549"/>
            <a:ext cx="162306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>
                <a:solidFill>
                  <a:srgbClr val="0B1320"/>
                </a:solidFill>
                <a:latin typeface="Playfair Display Black"/>
                <a:sym typeface="Playfair Display Black"/>
              </a:rPr>
              <a:t>Thanks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8913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658</Words>
  <Application>Microsoft Office PowerPoint</Application>
  <PresentationFormat>מותאם אישית</PresentationFormat>
  <Paragraphs>87</Paragraphs>
  <Slides>10</Slides>
  <Notes>10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6" baseType="lpstr">
      <vt:lpstr>Playfair Display Black</vt:lpstr>
      <vt:lpstr>Cambria Math</vt:lpstr>
      <vt:lpstr>Roboto</vt:lpstr>
      <vt:lpstr>Calibri</vt:lpstr>
      <vt:lpstr>Arial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דביר בובליל</cp:lastModifiedBy>
  <cp:revision>27</cp:revision>
  <dcterms:modified xsi:type="dcterms:W3CDTF">2025-01-27T12:43:43Z</dcterms:modified>
</cp:coreProperties>
</file>